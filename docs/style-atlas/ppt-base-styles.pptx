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9" autoAdjust="0"/>
    <p:restoredTop sz="94660"/>
  </p:normalViewPr>
  <p:slideViewPr>
    <p:cSldViewPr snapToGrid="0">
      <p:cViewPr varScale="1">
        <p:scale>
          <a:sx n="64" d="100"/>
          <a:sy n="64" d="100"/>
        </p:scale>
        <p:origin x="4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1BF52-75DE-443C-A40C-23029E5A84D9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9615D-C39B-4BF5-9D55-449789966B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03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C3D15-92D8-FC31-DE9A-D3EE2BB6A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B32489-1A60-ACB9-4E6D-5AEDEB1B4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C30808-675E-73E4-9208-DEF7CA84E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C0100-9C02-46EF-3AC0-9345C255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6BB10-E7FD-1887-5459-7A437F89A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333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FA429-FD44-B9B0-13B1-32B7841D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78847-ABD2-787E-2319-FA0403406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FB31AC-FB2B-FF78-BFDC-8959BA20B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78870-994E-FE95-D2D7-3E5C169B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388F0-C845-87CB-5679-D99E7B63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97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18F45-1C75-ACE3-DF7F-AD4BC5AE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53806C-FE9F-E192-D237-8CD899254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DB3D22-971D-45F4-6E07-902697A9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A3569-16A3-70BD-A31E-2DB907FC6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E938CB-94F5-A27D-204E-74EEC083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94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13480-1B17-5AC6-9B3B-7FDE0BA1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0873E-7BC8-6733-3378-A8F8656DC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5E5029-A8E9-9F90-448C-354A0BF5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37B853-1BBB-DE5B-38C5-F4730BD4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4340B0-85F3-0E50-4708-6B57E3EF9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BA5A58-9DE1-0BED-5208-122827BB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786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EFA25-4EBE-AAB9-DD86-AF9FF050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050250-FD51-B1EA-AF2D-6938884F5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3E1DC8-F801-FA2B-E402-317D7A0C4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85FAF7-AB0A-F88E-B411-993E9B312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541857-60CB-071C-723B-66E72F04C2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58E6DFB-19FE-A55E-439A-ECAFF2E4B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9807EC-7921-176C-1489-DB1F3F9B3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9B5BF9-D4CA-B802-65D1-F58CD91C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47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144D1-11B7-5F59-69E3-891D7C430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C5BC6E4-FF1E-4CE7-A501-84D855D27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DC4B6E-C3F9-B15D-EF7E-56867E089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B904D3-943E-9990-73E4-30F493698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CB38B6-DE5F-F5F9-6BCA-6BDBD5D7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9B9F7E-6EFF-B820-E283-F6B01BCD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D01A2B-F3BA-3DD1-35B1-CCC50180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213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5F087-33F9-844D-1D13-2AEF8ABA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01D0D8-D6BF-4363-8E57-35EDB017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6D1A5D-213A-B03A-CEAF-4DF932F47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6710BF-29A3-26C0-91A4-229927B6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8A01FD-FF76-D2F6-0641-F1479D012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FE2BDD-0C87-7F67-DF54-958DCAD0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74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267E7-3732-B740-E0E5-CE01A09C4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241335-C46E-E4CC-51CC-2E854BEF7A0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B98D27D-769B-662F-87B1-F6613CA68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682169-EFD6-ED91-E077-82BF5B64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12707-CD10-56BE-8055-B868E241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6F23CC-61B2-7376-DE17-BF902BA0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9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6FCD0-6013-0A64-FC42-9488DF41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610452-AD32-09EC-2553-AE13DA071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022BB3-3B71-A9F6-358F-E7B058E5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118FB6-CF39-ADFC-2BAF-F19F9E7D5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39B13-4CC7-8694-9D70-3B8CB06D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560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B5F783D-A115-D395-2E6C-D695CEBB4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E148AA-7C2B-437A-E451-9909E0B06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A04729-1DBE-3860-DFE0-F9EC2EB16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7D3AF9-04DB-74DE-FF47-F9144AD2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C15998-BC42-19DE-F2E4-DE7F76A9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446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6459E19-0F5E-A739-FA30-F8D44E63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307A81-D710-92FA-5DA6-BA15F1F8E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11AB6-A1BA-D597-C3FB-40BD0CB809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043B6-53AB-4CE5-9118-027EAAE4646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664E82-B2AE-19D5-2FD8-08274D889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F8D358-9074-99F6-3563-B6BBA7A3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AA13F-3668-4668-991C-4BF4527F79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586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C42F436-00B3-415A-8364-5890800ED8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65D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D3DF30-59C1-43A3-B570-0183B928F618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FFFFFF"/>
                </a:solidFill>
                <a:latin typeface="SimHei"/>
                <a:ea typeface="SimHei"/>
              </a:rPr>
              <a:t>预算执行 </a:t>
            </a:r>
            <a:r>
              <a:rPr lang="en-US" altLang="zh-CN" sz="3000">
                <a:solidFill>
                  <a:srgbClr val="FFFFFF"/>
                </a:solidFill>
                <a:latin typeface="SimHei"/>
                <a:ea typeface="SimHei"/>
              </a:rPr>
              <a:t>· </a:t>
            </a:r>
            <a:r>
              <a:rPr lang="zh-CN" altLang="en-US" sz="3000">
                <a:solidFill>
                  <a:srgbClr val="FFFFFF"/>
                </a:solidFill>
                <a:latin typeface="SimHei"/>
                <a:ea typeface="SimHei"/>
              </a:rPr>
              <a:t>原生样式图谱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E9AE5F4-CB3B-422E-8D63-7708C1D8863F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426183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F1CA95C1-2BD2-4876-949C-75FB9B1D0937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D8E5F2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D8E5F2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D8E5F2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D8E5F2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122D38-AF5C-483B-8B18-9EDBC9A6F579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D8E5F2"/>
                </a:solidFill>
                <a:latin typeface="KaiTi"/>
                <a:ea typeface="KaiTi"/>
              </a:rPr>
              <a:t>01 / 10</a:t>
            </a:r>
            <a:endParaRPr lang="zh-CN" altLang="en-US" sz="1200">
              <a:solidFill>
                <a:srgbClr val="D8E5F2"/>
              </a:solidFill>
              <a:latin typeface="KaiTi"/>
              <a:ea typeface="KaiT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26D93F-151C-439B-8433-0854E36BB3AE}"/>
              </a:ext>
            </a:extLst>
          </p:cNvPr>
          <p:cNvSpPr/>
          <p:nvPr/>
        </p:nvSpPr>
        <p:spPr>
          <a:xfrm>
            <a:off x="609600" y="1841500"/>
            <a:ext cx="76200" cy="28956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00D0EB7-1EBC-4317-A575-0115D361D075}"/>
              </a:ext>
            </a:extLst>
          </p:cNvPr>
          <p:cNvSpPr txBox="1"/>
          <p:nvPr/>
        </p:nvSpPr>
        <p:spPr>
          <a:xfrm>
            <a:off x="990600" y="1943100"/>
            <a:ext cx="6604000" cy="1346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FFFFFF"/>
                </a:solidFill>
                <a:latin typeface="SimHei"/>
                <a:ea typeface="SimHei"/>
              </a:rPr>
              <a:t>用同一组业务数据
展示十种可编辑表达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16125E-2A13-4EA3-80E5-544C1316FC66}"/>
              </a:ext>
            </a:extLst>
          </p:cNvPr>
          <p:cNvSpPr txBox="1"/>
          <p:nvPr/>
        </p:nvSpPr>
        <p:spPr>
          <a:xfrm>
            <a:off x="1016000" y="3632200"/>
            <a:ext cx="66040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D8E5F2"/>
                </a:solidFill>
                <a:latin typeface="KaiTi"/>
                <a:ea typeface="KaiTi"/>
              </a:rPr>
              <a:t>文字、表格、图形、图片与流程
统一字体与视觉层级，支持后续编辑。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747221-548B-4042-8A39-9859F9DE491B}"/>
              </a:ext>
            </a:extLst>
          </p:cNvPr>
          <p:cNvSpPr/>
          <p:nvPr/>
        </p:nvSpPr>
        <p:spPr>
          <a:xfrm>
            <a:off x="8420100" y="1981200"/>
            <a:ext cx="2921000" cy="2705100"/>
          </a:xfrm>
          <a:prstGeom prst="rect">
            <a:avLst/>
          </a:prstGeom>
          <a:solidFill>
            <a:srgbClr val="244C7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6F5213-6CC0-4821-B451-84ACF97055D5}"/>
              </a:ext>
            </a:extLst>
          </p:cNvPr>
          <p:cNvSpPr txBox="1"/>
          <p:nvPr/>
        </p:nvSpPr>
        <p:spPr>
          <a:xfrm>
            <a:off x="8763000" y="2273300"/>
            <a:ext cx="2247900" cy="7493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3000">
                <a:solidFill>
                  <a:srgbClr val="FFFFFF"/>
                </a:solidFill>
                <a:latin typeface="SimHei"/>
                <a:ea typeface="SimHei"/>
              </a:rPr>
              <a:t>300</a:t>
            </a:r>
            <a:endParaRPr lang="zh-CN" altLang="en-US" sz="3000">
              <a:solidFill>
                <a:srgbClr val="FFFFFF"/>
              </a:solidFill>
              <a:latin typeface="SimHei"/>
              <a:ea typeface="SimHe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26DEFC-1257-44C9-A375-F3251329564A}"/>
              </a:ext>
            </a:extLst>
          </p:cNvPr>
          <p:cNvSpPr txBox="1"/>
          <p:nvPr/>
        </p:nvSpPr>
        <p:spPr>
          <a:xfrm>
            <a:off x="8763000" y="3124200"/>
            <a:ext cx="2247900" cy="393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预算总额 </a:t>
            </a:r>
            <a:r>
              <a:rPr lang="en-US" altLang="zh-CN" sz="1600">
                <a:solidFill>
                  <a:srgbClr val="D8E5F2"/>
                </a:solidFill>
                <a:latin typeface="KaiTi"/>
                <a:ea typeface="KaiTi"/>
              </a:rPr>
              <a:t>/ </a:t>
            </a:r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万元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1656FA6-8FCE-4960-AD83-9E0DCC4B9C8C}"/>
              </a:ext>
            </a:extLst>
          </p:cNvPr>
          <p:cNvCxnSpPr/>
          <p:nvPr/>
        </p:nvCxnSpPr>
        <p:spPr>
          <a:xfrm>
            <a:off x="8763000" y="3683000"/>
            <a:ext cx="2209800" cy="0"/>
          </a:xfrm>
          <a:prstGeom prst="straightConnector1">
            <a:avLst/>
          </a:prstGeom>
          <a:ln w="12700" cap="flat" cmpd="sng" algn="ctr">
            <a:solidFill>
              <a:srgbClr val="52779B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68BC4B4-2EAC-43AE-8190-82F165446706}"/>
              </a:ext>
            </a:extLst>
          </p:cNvPr>
          <p:cNvSpPr txBox="1"/>
          <p:nvPr/>
        </p:nvSpPr>
        <p:spPr>
          <a:xfrm>
            <a:off x="8763000" y="4000500"/>
            <a:ext cx="2286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KaiTi"/>
                <a:ea typeface="KaiTi"/>
              </a:rPr>
              <a:t>实际 </a:t>
            </a:r>
            <a:r>
              <a:rPr lang="en-US" altLang="zh-CN" sz="1600">
                <a:solidFill>
                  <a:srgbClr val="FFFFFF"/>
                </a:solidFill>
                <a:latin typeface="KaiTi"/>
                <a:ea typeface="KaiTi"/>
              </a:rPr>
              <a:t>290  ·  </a:t>
            </a:r>
            <a:r>
              <a:rPr lang="zh-CN" altLang="en-US" sz="1600">
                <a:solidFill>
                  <a:srgbClr val="FFFFFF"/>
                </a:solidFill>
                <a:latin typeface="KaiTi"/>
                <a:ea typeface="KaiTi"/>
              </a:rPr>
              <a:t>结余 </a:t>
            </a:r>
            <a:r>
              <a:rPr lang="en-US" altLang="zh-CN" sz="1600">
                <a:solidFill>
                  <a:srgbClr val="FFFFFF"/>
                </a:solidFill>
                <a:latin typeface="KaiTi"/>
                <a:ea typeface="KaiTi"/>
              </a:rPr>
              <a:t>10</a:t>
            </a:r>
            <a:endParaRPr lang="zh-CN" altLang="en-US" sz="1600">
              <a:solidFill>
                <a:srgbClr val="FFFFFF"/>
              </a:solidFill>
              <a:latin typeface="KaiTi"/>
              <a:ea typeface="KaiT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A1DF23-6E73-417F-ABE7-4A0EE1240652}"/>
              </a:ext>
            </a:extLst>
          </p:cNvPr>
          <p:cNvSpPr txBox="1"/>
          <p:nvPr/>
        </p:nvSpPr>
        <p:spPr>
          <a:xfrm>
            <a:off x="1016000" y="5219700"/>
            <a:ext cx="9906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共享示例：研发 </a:t>
            </a:r>
            <a:r>
              <a:rPr lang="en-US" altLang="zh-CN" sz="1600">
                <a:solidFill>
                  <a:srgbClr val="D8E5F2"/>
                </a:solidFill>
                <a:latin typeface="KaiTi"/>
                <a:ea typeface="KaiTi"/>
              </a:rPr>
              <a:t>/ </a:t>
            </a:r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运营 </a:t>
            </a:r>
            <a:r>
              <a:rPr lang="en-US" altLang="zh-CN" sz="1600">
                <a:solidFill>
                  <a:srgbClr val="D8E5F2"/>
                </a:solidFill>
                <a:latin typeface="KaiTi"/>
                <a:ea typeface="KaiTi"/>
              </a:rPr>
              <a:t>/ </a:t>
            </a:r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营销 </a:t>
            </a:r>
            <a:r>
              <a:rPr lang="en-US" altLang="zh-CN" sz="1600">
                <a:solidFill>
                  <a:srgbClr val="D8E5F2"/>
                </a:solidFill>
                <a:latin typeface="KaiTi"/>
                <a:ea typeface="KaiTi"/>
              </a:rPr>
              <a:t>/ </a:t>
            </a:r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支持</a:t>
            </a:r>
          </a:p>
        </p:txBody>
      </p:sp>
    </p:spTree>
    <p:extLst>
      <p:ext uri="{BB962C8B-B14F-4D97-AF65-F5344CB8AC3E}">
        <p14:creationId xmlns:p14="http://schemas.microsoft.com/office/powerpoint/2010/main" val="89314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72536FE-40EC-419A-87EC-AF72A57FB7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F69B2B-B8ED-4E1A-8B8D-AEBB544EBA09}"/>
              </a:ext>
            </a:extLst>
          </p:cNvPr>
          <p:cNvSpPr/>
          <p:nvPr/>
        </p:nvSpPr>
        <p:spPr>
          <a:xfrm>
            <a:off x="609600" y="1231900"/>
            <a:ext cx="609600" cy="50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1B9E74-3A1D-4048-9FF7-ACF45A77BB52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文字层级与关键指标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CDD7960-0AB5-4225-BB30-B8C59525EBE3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32BAEAC-9AC8-4C38-B7A1-187433C5E8B1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B55FD1-557F-4517-AFD6-5E45712DE44D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02 / 10</a:t>
            </a:r>
            <a:endParaRPr lang="zh-CN" altLang="en-US" sz="1200">
              <a:solidFill>
                <a:srgbClr val="607486"/>
              </a:solidFill>
              <a:latin typeface="KaiTi"/>
              <a:ea typeface="KaiT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CB3A7DF-795F-4DF7-9EC8-D5874E0C652C}"/>
              </a:ext>
            </a:extLst>
          </p:cNvPr>
          <p:cNvSpPr txBox="1"/>
          <p:nvPr/>
        </p:nvSpPr>
        <p:spPr>
          <a:xfrm>
            <a:off x="609600" y="15875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黑体标题 </a:t>
            </a:r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30 pt</a:t>
            </a:r>
            <a:endParaRPr lang="zh-CN" altLang="en-US" sz="3000">
              <a:solidFill>
                <a:srgbClr val="17365D"/>
              </a:solidFill>
              <a:latin typeface="SimHei"/>
              <a:ea typeface="SimHe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6848E2-AD0C-44F4-B9A6-16D7E3804F59}"/>
              </a:ext>
            </a:extLst>
          </p:cNvPr>
          <p:cNvSpPr txBox="1"/>
          <p:nvPr/>
        </p:nvSpPr>
        <p:spPr>
          <a:xfrm>
            <a:off x="609600" y="2413000"/>
            <a:ext cx="107950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楷体正文 </a:t>
            </a:r>
            <a:r>
              <a:rPr lang="en-US" altLang="zh-CN">
                <a:solidFill>
                  <a:srgbClr val="243746"/>
                </a:solidFill>
                <a:latin typeface="KaiTi"/>
                <a:ea typeface="KaiTi"/>
              </a:rPr>
              <a:t>18 pt</a:t>
            </a:r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：数字与中文保持清晰层级。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08DCBC-6CED-4B7B-ADEB-4E4C821176E6}"/>
              </a:ext>
            </a:extLst>
          </p:cNvPr>
          <p:cNvSpPr txBox="1"/>
          <p:nvPr/>
        </p:nvSpPr>
        <p:spPr>
          <a:xfrm>
            <a:off x="609600" y="3098800"/>
            <a:ext cx="10795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标签 </a:t>
            </a:r>
            <a:r>
              <a:rPr lang="en-US" altLang="zh-CN" sz="1600">
                <a:solidFill>
                  <a:srgbClr val="607486"/>
                </a:solidFill>
                <a:latin typeface="KaiTi"/>
                <a:ea typeface="KaiTi"/>
              </a:rPr>
              <a:t>16 pt  /  </a:t>
            </a:r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表格图表 </a:t>
            </a:r>
            <a:r>
              <a:rPr lang="en-US" altLang="zh-CN" sz="1600">
                <a:solidFill>
                  <a:srgbClr val="607486"/>
                </a:solidFill>
                <a:latin typeface="KaiTi"/>
                <a:ea typeface="KaiTi"/>
              </a:rPr>
              <a:t>14 pt  /  </a:t>
            </a:r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页脚 </a:t>
            </a:r>
            <a:r>
              <a:rPr lang="en-US" altLang="zh-CN" sz="1600">
                <a:solidFill>
                  <a:srgbClr val="607486"/>
                </a:solidFill>
                <a:latin typeface="KaiTi"/>
                <a:ea typeface="KaiTi"/>
              </a:rPr>
              <a:t>12 pt</a:t>
            </a:r>
            <a:endParaRPr lang="zh-CN" altLang="en-US" sz="1600">
              <a:solidFill>
                <a:srgbClr val="607486"/>
              </a:solidFill>
              <a:latin typeface="KaiTi"/>
              <a:ea typeface="KaiT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8970A1-69A1-4863-B1E6-9763397A2233}"/>
              </a:ext>
            </a:extLst>
          </p:cNvPr>
          <p:cNvSpPr/>
          <p:nvPr/>
        </p:nvSpPr>
        <p:spPr>
          <a:xfrm>
            <a:off x="609600" y="3975100"/>
            <a:ext cx="2590800" cy="17145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3A87A3-25F8-4CBF-A06A-B3BC0EC38929}"/>
              </a:ext>
            </a:extLst>
          </p:cNvPr>
          <p:cNvSpPr txBox="1"/>
          <p:nvPr/>
        </p:nvSpPr>
        <p:spPr>
          <a:xfrm>
            <a:off x="812800" y="4178300"/>
            <a:ext cx="2184400" cy="342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预算总额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DB205A-BACD-4A90-878A-69E364279093}"/>
              </a:ext>
            </a:extLst>
          </p:cNvPr>
          <p:cNvSpPr txBox="1"/>
          <p:nvPr/>
        </p:nvSpPr>
        <p:spPr>
          <a:xfrm>
            <a:off x="812800" y="4622800"/>
            <a:ext cx="2184400" cy="546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300</a:t>
            </a:r>
            <a:endParaRPr lang="zh-CN" altLang="en-US" sz="3000">
              <a:solidFill>
                <a:srgbClr val="17365D"/>
              </a:solidFill>
              <a:latin typeface="SimHei"/>
              <a:ea typeface="SimHe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AEAD4E-1549-438B-9BED-781E5DF6F84E}"/>
              </a:ext>
            </a:extLst>
          </p:cNvPr>
          <p:cNvSpPr txBox="1"/>
          <p:nvPr/>
        </p:nvSpPr>
        <p:spPr>
          <a:xfrm>
            <a:off x="812800" y="5257800"/>
            <a:ext cx="21844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400">
                <a:solidFill>
                  <a:srgbClr val="607486"/>
                </a:solidFill>
                <a:latin typeface="KaiTi"/>
                <a:ea typeface="KaiTi"/>
              </a:rPr>
              <a:t>万元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07C46D-E4EE-432B-9334-2C95B2272939}"/>
              </a:ext>
            </a:extLst>
          </p:cNvPr>
          <p:cNvSpPr/>
          <p:nvPr/>
        </p:nvSpPr>
        <p:spPr>
          <a:xfrm>
            <a:off x="3429000" y="3975100"/>
            <a:ext cx="2590800" cy="17145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8925CA-3252-411A-8427-295C5C0AD014}"/>
              </a:ext>
            </a:extLst>
          </p:cNvPr>
          <p:cNvSpPr txBox="1"/>
          <p:nvPr/>
        </p:nvSpPr>
        <p:spPr>
          <a:xfrm>
            <a:off x="3632200" y="4178300"/>
            <a:ext cx="2184400" cy="342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实际执行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0FCBF2-C967-4794-93E5-A825C546E48D}"/>
              </a:ext>
            </a:extLst>
          </p:cNvPr>
          <p:cNvSpPr txBox="1"/>
          <p:nvPr/>
        </p:nvSpPr>
        <p:spPr>
          <a:xfrm>
            <a:off x="3632200" y="4622800"/>
            <a:ext cx="2184400" cy="546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290</a:t>
            </a:r>
            <a:endParaRPr lang="zh-CN" altLang="en-US" sz="3000">
              <a:solidFill>
                <a:srgbClr val="17365D"/>
              </a:solidFill>
              <a:latin typeface="SimHei"/>
              <a:ea typeface="SimHei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511392-C580-4758-A639-2C52F4428703}"/>
              </a:ext>
            </a:extLst>
          </p:cNvPr>
          <p:cNvSpPr txBox="1"/>
          <p:nvPr/>
        </p:nvSpPr>
        <p:spPr>
          <a:xfrm>
            <a:off x="3632200" y="5257800"/>
            <a:ext cx="21844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400">
                <a:solidFill>
                  <a:srgbClr val="607486"/>
                </a:solidFill>
                <a:latin typeface="KaiTi"/>
                <a:ea typeface="KaiTi"/>
              </a:rPr>
              <a:t>万元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D1A4B9-8826-443F-A23D-A0637685CA35}"/>
              </a:ext>
            </a:extLst>
          </p:cNvPr>
          <p:cNvSpPr/>
          <p:nvPr/>
        </p:nvSpPr>
        <p:spPr>
          <a:xfrm>
            <a:off x="6248400" y="3975100"/>
            <a:ext cx="2590800" cy="17145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D37D02-4E05-4593-A3B0-E3D05735CB63}"/>
              </a:ext>
            </a:extLst>
          </p:cNvPr>
          <p:cNvSpPr txBox="1"/>
          <p:nvPr/>
        </p:nvSpPr>
        <p:spPr>
          <a:xfrm>
            <a:off x="6451600" y="4178300"/>
            <a:ext cx="2184400" cy="342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预算结余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171367D-2DCA-4622-8794-626C5859DFD9}"/>
              </a:ext>
            </a:extLst>
          </p:cNvPr>
          <p:cNvSpPr txBox="1"/>
          <p:nvPr/>
        </p:nvSpPr>
        <p:spPr>
          <a:xfrm>
            <a:off x="6451600" y="4622800"/>
            <a:ext cx="2184400" cy="546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10</a:t>
            </a:r>
            <a:endParaRPr lang="zh-CN" altLang="en-US" sz="3000">
              <a:solidFill>
                <a:srgbClr val="17365D"/>
              </a:solidFill>
              <a:latin typeface="SimHei"/>
              <a:ea typeface="SimHei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F8F6F2F-ECA6-4EE7-9EEB-E3AFD35CF2C1}"/>
              </a:ext>
            </a:extLst>
          </p:cNvPr>
          <p:cNvSpPr txBox="1"/>
          <p:nvPr/>
        </p:nvSpPr>
        <p:spPr>
          <a:xfrm>
            <a:off x="6451600" y="5257800"/>
            <a:ext cx="21844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400">
                <a:solidFill>
                  <a:srgbClr val="607486"/>
                </a:solidFill>
                <a:latin typeface="KaiTi"/>
                <a:ea typeface="KaiTi"/>
              </a:rPr>
              <a:t>万元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93A67E-F541-4A0D-954D-ED87DC3FCCDB}"/>
              </a:ext>
            </a:extLst>
          </p:cNvPr>
          <p:cNvSpPr/>
          <p:nvPr/>
        </p:nvSpPr>
        <p:spPr>
          <a:xfrm>
            <a:off x="9067800" y="3975100"/>
            <a:ext cx="2590800" cy="1714500"/>
          </a:xfrm>
          <a:prstGeom prst="rect">
            <a:avLst/>
          </a:prstGeom>
          <a:solidFill>
            <a:srgbClr val="17365D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3C843E-BD7D-498E-9473-09B7689AF65E}"/>
              </a:ext>
            </a:extLst>
          </p:cNvPr>
          <p:cNvSpPr txBox="1"/>
          <p:nvPr/>
        </p:nvSpPr>
        <p:spPr>
          <a:xfrm>
            <a:off x="9271000" y="4178300"/>
            <a:ext cx="2184400" cy="3429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KaiTi"/>
                <a:ea typeface="KaiTi"/>
              </a:rPr>
              <a:t>执行率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D4A903-FACA-45D4-B2DA-3502DA7C3068}"/>
              </a:ext>
            </a:extLst>
          </p:cNvPr>
          <p:cNvSpPr txBox="1"/>
          <p:nvPr/>
        </p:nvSpPr>
        <p:spPr>
          <a:xfrm>
            <a:off x="9271000" y="4622800"/>
            <a:ext cx="2184400" cy="546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3000">
                <a:solidFill>
                  <a:srgbClr val="FFFFFF"/>
                </a:solidFill>
                <a:latin typeface="SimHei"/>
                <a:ea typeface="SimHei"/>
              </a:rPr>
              <a:t>96.7%</a:t>
            </a:r>
            <a:endParaRPr lang="zh-CN" altLang="en-US" sz="3000">
              <a:solidFill>
                <a:srgbClr val="FFFFFF"/>
              </a:solidFill>
              <a:latin typeface="SimHei"/>
              <a:ea typeface="SimHe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B23064B-CB56-46EC-937D-D15340E3B187}"/>
              </a:ext>
            </a:extLst>
          </p:cNvPr>
          <p:cNvSpPr txBox="1"/>
          <p:nvPr/>
        </p:nvSpPr>
        <p:spPr>
          <a:xfrm>
            <a:off x="9271000" y="5257800"/>
            <a:ext cx="2184400" cy="317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400">
                <a:solidFill>
                  <a:srgbClr val="D8E5F2"/>
                </a:solidFill>
                <a:latin typeface="KaiTi"/>
                <a:ea typeface="KaiTi"/>
              </a:rPr>
              <a:t>实际 </a:t>
            </a:r>
            <a:r>
              <a:rPr lang="en-US" altLang="zh-CN" sz="1400">
                <a:solidFill>
                  <a:srgbClr val="D8E5F2"/>
                </a:solidFill>
                <a:latin typeface="KaiTi"/>
                <a:ea typeface="KaiTi"/>
              </a:rPr>
              <a:t>/ </a:t>
            </a:r>
            <a:r>
              <a:rPr lang="zh-CN" altLang="en-US" sz="1400">
                <a:solidFill>
                  <a:srgbClr val="D8E5F2"/>
                </a:solidFill>
                <a:latin typeface="KaiTi"/>
                <a:ea typeface="KaiTi"/>
              </a:rPr>
              <a:t>预算</a:t>
            </a:r>
          </a:p>
        </p:txBody>
      </p:sp>
    </p:spTree>
    <p:extLst>
      <p:ext uri="{BB962C8B-B14F-4D97-AF65-F5344CB8AC3E}">
        <p14:creationId xmlns:p14="http://schemas.microsoft.com/office/powerpoint/2010/main" val="368617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4EEDF62-E2E7-4BFE-9F04-6BC484C557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72236-CF18-43A7-B1D8-0C0E850D02A0}"/>
              </a:ext>
            </a:extLst>
          </p:cNvPr>
          <p:cNvSpPr/>
          <p:nvPr/>
        </p:nvSpPr>
        <p:spPr>
          <a:xfrm>
            <a:off x="609600" y="1231900"/>
            <a:ext cx="609600" cy="50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41A346-4CC7-4EB4-B560-3305921EEA66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基础图形 </a:t>
            </a:r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填充与轮廓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B789EE0-CA32-442C-B382-8F7327E7B129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90E2DAC-80C3-4433-A9FA-4A251EF9DD04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38B554-1D11-4C27-8EB9-ED39FAE256CE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03 / 10</a:t>
            </a:r>
            <a:endParaRPr lang="zh-CN" altLang="en-US" sz="1200">
              <a:solidFill>
                <a:srgbClr val="607486"/>
              </a:solidFill>
              <a:latin typeface="KaiTi"/>
              <a:ea typeface="KaiT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250A8D-345A-4581-B394-AD0906191F76}"/>
              </a:ext>
            </a:extLst>
          </p:cNvPr>
          <p:cNvSpPr txBox="1"/>
          <p:nvPr/>
        </p:nvSpPr>
        <p:spPr>
          <a:xfrm>
            <a:off x="609600" y="15240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实心色块、真圆、菱形与轮廓共同构成视觉语言。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369ACC-96D2-4DA6-8774-004334B7C58E}"/>
              </a:ext>
            </a:extLst>
          </p:cNvPr>
          <p:cNvSpPr/>
          <p:nvPr/>
        </p:nvSpPr>
        <p:spPr>
          <a:xfrm>
            <a:off x="812800" y="2540000"/>
            <a:ext cx="2082800" cy="1778000"/>
          </a:xfrm>
          <a:prstGeom prst="rect">
            <a:avLst/>
          </a:prstGeom>
          <a:solidFill>
            <a:srgbClr val="2E75B6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9B61BBE-CB97-454B-9749-D1830AE483DD}"/>
              </a:ext>
            </a:extLst>
          </p:cNvPr>
          <p:cNvSpPr/>
          <p:nvPr/>
        </p:nvSpPr>
        <p:spPr>
          <a:xfrm>
            <a:off x="3708400" y="2540000"/>
            <a:ext cx="1778000" cy="1778000"/>
          </a:xfrm>
          <a:prstGeom prst="ellipse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2CC538E6-8C37-4B3A-ABF4-95A0CDCBE7E7}"/>
              </a:ext>
            </a:extLst>
          </p:cNvPr>
          <p:cNvSpPr/>
          <p:nvPr/>
        </p:nvSpPr>
        <p:spPr>
          <a:xfrm>
            <a:off x="6299200" y="2540000"/>
            <a:ext cx="1778000" cy="1778000"/>
          </a:xfrm>
          <a:prstGeom prst="diamond">
            <a:avLst/>
          </a:prstGeom>
          <a:solidFill>
            <a:srgbClr val="D49A27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2F6156-9CE5-4734-924B-2E20D712ECE0}"/>
              </a:ext>
            </a:extLst>
          </p:cNvPr>
          <p:cNvSpPr/>
          <p:nvPr/>
        </p:nvSpPr>
        <p:spPr>
          <a:xfrm>
            <a:off x="8940800" y="2540000"/>
            <a:ext cx="2082800" cy="1778000"/>
          </a:xfrm>
          <a:prstGeom prst="rect">
            <a:avLst/>
          </a:prstGeom>
          <a:noFill/>
          <a:ln w="25400" cap="flat" cmpd="sng" algn="ctr">
            <a:solidFill>
              <a:srgbClr val="17365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86FD67-2E86-4E6D-9C24-7170A1436E94}"/>
              </a:ext>
            </a:extLst>
          </p:cNvPr>
          <p:cNvSpPr txBox="1"/>
          <p:nvPr/>
        </p:nvSpPr>
        <p:spPr>
          <a:xfrm>
            <a:off x="609600" y="4610100"/>
            <a:ext cx="25908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zh-CN" altLang="en-US" sz="1600">
                <a:solidFill>
                  <a:srgbClr val="243746"/>
                </a:solidFill>
                <a:latin typeface="KaiTi"/>
                <a:ea typeface="KaiTi"/>
              </a:rPr>
              <a:t>实心矩形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03F192F-0AE4-4910-AA08-E04E2156DD09}"/>
              </a:ext>
            </a:extLst>
          </p:cNvPr>
          <p:cNvSpPr txBox="1"/>
          <p:nvPr/>
        </p:nvSpPr>
        <p:spPr>
          <a:xfrm>
            <a:off x="3429000" y="4610100"/>
            <a:ext cx="25908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zh-CN" altLang="en-US" sz="1600">
                <a:solidFill>
                  <a:srgbClr val="243746"/>
                </a:solidFill>
                <a:latin typeface="KaiTi"/>
                <a:ea typeface="KaiTi"/>
              </a:rPr>
              <a:t>真圆 </a:t>
            </a:r>
            <a:r>
              <a:rPr lang="en-US" altLang="zh-CN" sz="1600">
                <a:solidFill>
                  <a:srgbClr val="243746"/>
                </a:solidFill>
                <a:latin typeface="KaiTi"/>
                <a:ea typeface="KaiTi"/>
              </a:rPr>
              <a:t>140 × 140</a:t>
            </a:r>
            <a:endParaRPr lang="zh-CN" altLang="en-US" sz="1600">
              <a:solidFill>
                <a:srgbClr val="243746"/>
              </a:solidFill>
              <a:latin typeface="KaiTi"/>
              <a:ea typeface="KaiT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CC4F1E-1466-4B6D-B8D0-6AEDC698D6B4}"/>
              </a:ext>
            </a:extLst>
          </p:cNvPr>
          <p:cNvSpPr txBox="1"/>
          <p:nvPr/>
        </p:nvSpPr>
        <p:spPr>
          <a:xfrm>
            <a:off x="6248400" y="4610100"/>
            <a:ext cx="25908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zh-CN" altLang="en-US" sz="1600">
                <a:solidFill>
                  <a:srgbClr val="243746"/>
                </a:solidFill>
                <a:latin typeface="KaiTi"/>
                <a:ea typeface="KaiTi"/>
              </a:rPr>
              <a:t>决策菱形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28395BF-A518-4BDF-8A5F-E5927276A745}"/>
              </a:ext>
            </a:extLst>
          </p:cNvPr>
          <p:cNvSpPr txBox="1"/>
          <p:nvPr/>
        </p:nvSpPr>
        <p:spPr>
          <a:xfrm>
            <a:off x="9067800" y="4610100"/>
            <a:ext cx="25908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zh-CN" altLang="en-US" sz="1600">
                <a:solidFill>
                  <a:srgbClr val="243746"/>
                </a:solidFill>
                <a:latin typeface="KaiTi"/>
                <a:ea typeface="KaiTi"/>
              </a:rPr>
              <a:t>透明填充 </a:t>
            </a:r>
            <a:r>
              <a:rPr lang="en-US" altLang="zh-CN" sz="1600">
                <a:solidFill>
                  <a:srgbClr val="243746"/>
                </a:solidFill>
                <a:latin typeface="KaiTi"/>
                <a:ea typeface="KaiTi"/>
              </a:rPr>
              <a:t>/ </a:t>
            </a:r>
            <a:r>
              <a:rPr lang="zh-CN" altLang="en-US" sz="1600">
                <a:solidFill>
                  <a:srgbClr val="243746"/>
                </a:solidFill>
                <a:latin typeface="KaiTi"/>
                <a:ea typeface="KaiTi"/>
              </a:rPr>
              <a:t>轮廓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7B4C044-91DD-4531-B81F-13CB724882BA}"/>
              </a:ext>
            </a:extLst>
          </p:cNvPr>
          <p:cNvCxnSpPr/>
          <p:nvPr/>
        </p:nvCxnSpPr>
        <p:spPr>
          <a:xfrm>
            <a:off x="812800" y="5549900"/>
            <a:ext cx="10210800" cy="0"/>
          </a:xfrm>
          <a:prstGeom prst="straightConnector1">
            <a:avLst/>
          </a:prstGeom>
          <a:ln w="38100" cap="flat" cmpd="sng" algn="ctr">
            <a:solidFill>
              <a:srgbClr val="008C95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08B96E6B-2D84-4EF0-A028-23CFD9EC482C}"/>
              </a:ext>
            </a:extLst>
          </p:cNvPr>
          <p:cNvSpPr txBox="1"/>
          <p:nvPr/>
        </p:nvSpPr>
        <p:spPr>
          <a:xfrm>
            <a:off x="609600" y="57150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400">
                <a:solidFill>
                  <a:srgbClr val="607486"/>
                </a:solidFill>
                <a:latin typeface="KaiTi"/>
                <a:ea typeface="KaiTi"/>
              </a:rPr>
              <a:t>填充强调区域；细线建立秩序；所有图形均可编辑。</a:t>
            </a:r>
          </a:p>
        </p:txBody>
      </p:sp>
    </p:spTree>
    <p:extLst>
      <p:ext uri="{BB962C8B-B14F-4D97-AF65-F5344CB8AC3E}">
        <p14:creationId xmlns:p14="http://schemas.microsoft.com/office/powerpoint/2010/main" val="278800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F09EC54-8BD0-43A8-ACAE-9F81BC57E0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A8CB89-4E0B-45F0-8DC1-8F5A3B6D358F}"/>
              </a:ext>
            </a:extLst>
          </p:cNvPr>
          <p:cNvSpPr/>
          <p:nvPr/>
        </p:nvSpPr>
        <p:spPr>
          <a:xfrm>
            <a:off x="609600" y="1231900"/>
            <a:ext cx="609600" cy="50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510F39-D7EC-4461-8651-D82B7FED41CF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原生表格 </a:t>
            </a:r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预算执行明细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E0BB3E1-405E-4919-835B-BEAD21E73B03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4CD055B-4C36-4394-82EC-15E8C26D8D24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6C5D87A-9412-4DB4-85AE-5F5830FCEE9A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04 / 10</a:t>
            </a:r>
            <a:endParaRPr lang="zh-CN" altLang="en-US" sz="1200">
              <a:solidFill>
                <a:srgbClr val="607486"/>
              </a:solidFill>
              <a:latin typeface="KaiTi"/>
              <a:ea typeface="KaiT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4E340DF-B9F0-468D-807C-D2ABE44EBFD5}"/>
              </a:ext>
            </a:extLst>
          </p:cNvPr>
          <p:cNvSpPr txBox="1"/>
          <p:nvPr/>
        </p:nvSpPr>
        <p:spPr>
          <a:xfrm>
            <a:off x="609600" y="15367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同一组示例数据，保留原生单元格编辑能力。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B7E9CC5-7B7F-4284-B4B5-672E3DA8C823}"/>
              </a:ext>
            </a:extLst>
          </p:cNvPr>
          <p:cNvSpPr txBox="1"/>
          <p:nvPr/>
        </p:nvSpPr>
        <p:spPr>
          <a:xfrm>
            <a:off x="609600" y="53975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17365D"/>
                </a:solidFill>
                <a:latin typeface="KaiTi"/>
                <a:ea typeface="KaiTi"/>
              </a:rPr>
              <a:t>运营超预算 </a:t>
            </a:r>
            <a:r>
              <a:rPr lang="en-US" altLang="zh-CN">
                <a:solidFill>
                  <a:srgbClr val="17365D"/>
                </a:solidFill>
                <a:latin typeface="KaiTi"/>
                <a:ea typeface="KaiTi"/>
              </a:rPr>
              <a:t>4 </a:t>
            </a:r>
            <a:r>
              <a:rPr lang="zh-CN" altLang="en-US">
                <a:solidFill>
                  <a:srgbClr val="17365D"/>
                </a:solidFill>
                <a:latin typeface="KaiTi"/>
                <a:ea typeface="KaiTi"/>
              </a:rPr>
              <a:t>万元；其余类别合计结余 </a:t>
            </a:r>
            <a:r>
              <a:rPr lang="en-US" altLang="zh-CN">
                <a:solidFill>
                  <a:srgbClr val="17365D"/>
                </a:solidFill>
                <a:latin typeface="KaiTi"/>
                <a:ea typeface="KaiTi"/>
              </a:rPr>
              <a:t>14 </a:t>
            </a:r>
            <a:r>
              <a:rPr lang="zh-CN" altLang="en-US">
                <a:solidFill>
                  <a:srgbClr val="17365D"/>
                </a:solidFill>
                <a:latin typeface="KaiTi"/>
                <a:ea typeface="KaiTi"/>
              </a:rPr>
              <a:t>万元。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FBF7DB4-C5A9-4D20-B8DA-4B9BC49E8E5D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349500"/>
          <a:ext cx="1097280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78774396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59249364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7516008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47689546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80757899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SimHei"/>
                          <a:ea typeface="SimHei"/>
                        </a:rPr>
                        <a:t>类别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SimHei"/>
                          <a:ea typeface="SimHei"/>
                        </a:rPr>
                        <a:t>预算（万元）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SimHei"/>
                          <a:ea typeface="SimHei"/>
                        </a:rPr>
                        <a:t>实际（万元）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SimHei"/>
                          <a:ea typeface="SimHei"/>
                        </a:rPr>
                        <a:t>结余（万元）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SimHei"/>
                          <a:ea typeface="SimHei"/>
                        </a:rPr>
                        <a:t>执行率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7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9798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研发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120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114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6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95.0%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09924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运营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80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84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-4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105.0%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7465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营销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60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54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6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90.0%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7596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支持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40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38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2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95.0%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D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900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合计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E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300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E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290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E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10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EE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43746"/>
                          </a:solidFill>
                          <a:latin typeface="KaiTi"/>
                          <a:ea typeface="KaiTi"/>
                        </a:rPr>
                        <a:t>96.7%</a:t>
                      </a:r>
                    </a:p>
                  </a:txBody>
                  <a:tcPr marL="127000" marR="127000" marT="50800" marB="508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E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710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885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5C44C46-2EF7-4A36-9308-83F2689F6C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E3A0A0-1545-4BFD-B433-F3272F7AB3DE}"/>
              </a:ext>
            </a:extLst>
          </p:cNvPr>
          <p:cNvSpPr/>
          <p:nvPr/>
        </p:nvSpPr>
        <p:spPr>
          <a:xfrm>
            <a:off x="609600" y="1231900"/>
            <a:ext cx="609600" cy="50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F70ADDD-F519-40DF-91F6-B3776F5BB727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数据图形 </a:t>
            </a:r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预算与实际对照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0CA6688-2F05-49A7-A779-FC838C3C86BC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567EBDE-0762-4213-B1E4-0A1434E62689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E27BB1-E887-4522-BD05-5DD82CF45028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05 / 10</a:t>
            </a:r>
            <a:endParaRPr lang="zh-CN" altLang="en-US" sz="1200">
              <a:solidFill>
                <a:srgbClr val="607486"/>
              </a:solidFill>
              <a:latin typeface="KaiTi"/>
              <a:ea typeface="KaiT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BBEEDAF-6710-4F78-9119-A530A5F2F9D6}"/>
              </a:ext>
            </a:extLst>
          </p:cNvPr>
          <p:cNvSpPr/>
          <p:nvPr/>
        </p:nvSpPr>
        <p:spPr>
          <a:xfrm>
            <a:off x="609600" y="1587500"/>
            <a:ext cx="177800" cy="177800"/>
          </a:xfrm>
          <a:prstGeom prst="rect">
            <a:avLst/>
          </a:prstGeom>
          <a:solidFill>
            <a:srgbClr val="2E75B6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FC4C13-6345-495A-A49E-CE1534A4ED94}"/>
              </a:ext>
            </a:extLst>
          </p:cNvPr>
          <p:cNvSpPr txBox="1"/>
          <p:nvPr/>
        </p:nvSpPr>
        <p:spPr>
          <a:xfrm>
            <a:off x="889000" y="15240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400">
                <a:solidFill>
                  <a:srgbClr val="243746"/>
                </a:solidFill>
                <a:latin typeface="KaiTi"/>
                <a:ea typeface="KaiTi"/>
              </a:rPr>
              <a:t>预算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D6F876-93E4-4B31-A1B9-A5BED8C92860}"/>
              </a:ext>
            </a:extLst>
          </p:cNvPr>
          <p:cNvSpPr/>
          <p:nvPr/>
        </p:nvSpPr>
        <p:spPr>
          <a:xfrm>
            <a:off x="2222500" y="1587500"/>
            <a:ext cx="177800" cy="177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1128D9-1E32-4B9F-AC8E-3DA1A6A78156}"/>
              </a:ext>
            </a:extLst>
          </p:cNvPr>
          <p:cNvSpPr txBox="1"/>
          <p:nvPr/>
        </p:nvSpPr>
        <p:spPr>
          <a:xfrm>
            <a:off x="2501900" y="1524000"/>
            <a:ext cx="1143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400">
                <a:solidFill>
                  <a:srgbClr val="243746"/>
                </a:solidFill>
                <a:latin typeface="KaiTi"/>
                <a:ea typeface="KaiTi"/>
              </a:rPr>
              <a:t>实际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199A4A-95ED-4C81-9B89-863B38725AE4}"/>
              </a:ext>
            </a:extLst>
          </p:cNvPr>
          <p:cNvSpPr txBox="1"/>
          <p:nvPr/>
        </p:nvSpPr>
        <p:spPr>
          <a:xfrm>
            <a:off x="9550400" y="15240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zh-CN" altLang="en-US" sz="1400">
                <a:solidFill>
                  <a:srgbClr val="607486"/>
                </a:solidFill>
                <a:latin typeface="KaiTi"/>
                <a:ea typeface="KaiTi"/>
              </a:rPr>
              <a:t>单位：万元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E917087-DC03-487F-B849-24B4749BB93E}"/>
              </a:ext>
            </a:extLst>
          </p:cNvPr>
          <p:cNvCxnSpPr/>
          <p:nvPr/>
        </p:nvCxnSpPr>
        <p:spPr>
          <a:xfrm>
            <a:off x="2209800" y="2120900"/>
            <a:ext cx="0" cy="325120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DDEB683-DB25-407D-A8C8-B8EA4C6E5E00}"/>
              </a:ext>
            </a:extLst>
          </p:cNvPr>
          <p:cNvSpPr txBox="1"/>
          <p:nvPr/>
        </p:nvSpPr>
        <p:spPr>
          <a:xfrm>
            <a:off x="1981200" y="54483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en-US" altLang="zh-CN" sz="1400">
                <a:solidFill>
                  <a:srgbClr val="607486"/>
                </a:solidFill>
                <a:latin typeface="KaiTi"/>
                <a:ea typeface="KaiTi"/>
              </a:rPr>
              <a:t>0</a:t>
            </a:r>
            <a:endParaRPr lang="zh-CN" altLang="en-US" sz="1400">
              <a:solidFill>
                <a:srgbClr val="607486"/>
              </a:solidFill>
              <a:latin typeface="KaiTi"/>
              <a:ea typeface="KaiTi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40AB49F-9793-47B5-BB1F-E0B82967E428}"/>
              </a:ext>
            </a:extLst>
          </p:cNvPr>
          <p:cNvCxnSpPr/>
          <p:nvPr/>
        </p:nvCxnSpPr>
        <p:spPr>
          <a:xfrm>
            <a:off x="4495800" y="2120900"/>
            <a:ext cx="0" cy="325120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5894A0A-80B6-45C4-8BC6-7610C8AAA9AC}"/>
              </a:ext>
            </a:extLst>
          </p:cNvPr>
          <p:cNvSpPr txBox="1"/>
          <p:nvPr/>
        </p:nvSpPr>
        <p:spPr>
          <a:xfrm>
            <a:off x="4267200" y="54483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en-US" altLang="zh-CN" sz="1400">
                <a:solidFill>
                  <a:srgbClr val="607486"/>
                </a:solidFill>
                <a:latin typeface="KaiTi"/>
                <a:ea typeface="KaiTi"/>
              </a:rPr>
              <a:t>40</a:t>
            </a:r>
            <a:endParaRPr lang="zh-CN" altLang="en-US" sz="1400">
              <a:solidFill>
                <a:srgbClr val="607486"/>
              </a:solidFill>
              <a:latin typeface="KaiTi"/>
              <a:ea typeface="KaiTi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D2B2D7B-3C8E-440F-B791-8C8A1136E7D7}"/>
              </a:ext>
            </a:extLst>
          </p:cNvPr>
          <p:cNvCxnSpPr/>
          <p:nvPr/>
        </p:nvCxnSpPr>
        <p:spPr>
          <a:xfrm>
            <a:off x="6781800" y="2120900"/>
            <a:ext cx="0" cy="325120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5B5A162-6DA2-4686-B6E9-279F9D818B05}"/>
              </a:ext>
            </a:extLst>
          </p:cNvPr>
          <p:cNvSpPr txBox="1"/>
          <p:nvPr/>
        </p:nvSpPr>
        <p:spPr>
          <a:xfrm>
            <a:off x="6553200" y="54483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en-US" altLang="zh-CN" sz="1400">
                <a:solidFill>
                  <a:srgbClr val="607486"/>
                </a:solidFill>
                <a:latin typeface="KaiTi"/>
                <a:ea typeface="KaiTi"/>
              </a:rPr>
              <a:t>80</a:t>
            </a:r>
            <a:endParaRPr lang="zh-CN" altLang="en-US" sz="1400">
              <a:solidFill>
                <a:srgbClr val="607486"/>
              </a:solidFill>
              <a:latin typeface="KaiTi"/>
              <a:ea typeface="KaiTi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C801013-2D66-4995-AAF4-E6412F102F21}"/>
              </a:ext>
            </a:extLst>
          </p:cNvPr>
          <p:cNvCxnSpPr/>
          <p:nvPr/>
        </p:nvCxnSpPr>
        <p:spPr>
          <a:xfrm>
            <a:off x="9067800" y="2120900"/>
            <a:ext cx="0" cy="325120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BD54D8C-AC95-452A-AF8D-695B07F9B950}"/>
              </a:ext>
            </a:extLst>
          </p:cNvPr>
          <p:cNvSpPr txBox="1"/>
          <p:nvPr/>
        </p:nvSpPr>
        <p:spPr>
          <a:xfrm>
            <a:off x="8839200" y="5448300"/>
            <a:ext cx="508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en-US" altLang="zh-CN" sz="1400">
                <a:solidFill>
                  <a:srgbClr val="607486"/>
                </a:solidFill>
                <a:latin typeface="KaiTi"/>
                <a:ea typeface="KaiTi"/>
              </a:rPr>
              <a:t>120</a:t>
            </a:r>
            <a:endParaRPr lang="zh-CN" altLang="en-US" sz="1400">
              <a:solidFill>
                <a:srgbClr val="607486"/>
              </a:solidFill>
              <a:latin typeface="KaiTi"/>
              <a:ea typeface="KaiTi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FE951E-9AD9-4A59-99AF-5DBA44AF69F0}"/>
              </a:ext>
            </a:extLst>
          </p:cNvPr>
          <p:cNvSpPr txBox="1"/>
          <p:nvPr/>
        </p:nvSpPr>
        <p:spPr>
          <a:xfrm>
            <a:off x="609600" y="23495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243746"/>
                </a:solidFill>
                <a:latin typeface="KaiTi"/>
                <a:ea typeface="KaiTi"/>
              </a:rPr>
              <a:t>研发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513CF0-054A-4C58-AECC-1E9FBCC2C5FC}"/>
              </a:ext>
            </a:extLst>
          </p:cNvPr>
          <p:cNvSpPr/>
          <p:nvPr/>
        </p:nvSpPr>
        <p:spPr>
          <a:xfrm>
            <a:off x="2209800" y="2247900"/>
            <a:ext cx="6858000" cy="215900"/>
          </a:xfrm>
          <a:prstGeom prst="rect">
            <a:avLst/>
          </a:prstGeom>
          <a:solidFill>
            <a:srgbClr val="2E75B6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7C59D7-15FE-47E9-BD13-1003194FEA3F}"/>
              </a:ext>
            </a:extLst>
          </p:cNvPr>
          <p:cNvSpPr/>
          <p:nvPr/>
        </p:nvSpPr>
        <p:spPr>
          <a:xfrm>
            <a:off x="2209800" y="2527300"/>
            <a:ext cx="6515100" cy="2159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3079E0-5DFC-4FE9-8124-76B8B21AB27C}"/>
              </a:ext>
            </a:extLst>
          </p:cNvPr>
          <p:cNvSpPr txBox="1"/>
          <p:nvPr/>
        </p:nvSpPr>
        <p:spPr>
          <a:xfrm>
            <a:off x="9461500" y="2298700"/>
            <a:ext cx="21082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400">
                <a:solidFill>
                  <a:srgbClr val="243746"/>
                </a:solidFill>
                <a:latin typeface="KaiTi"/>
                <a:ea typeface="KaiTi"/>
              </a:rPr>
              <a:t>120 / 114</a:t>
            </a:r>
            <a:endParaRPr lang="zh-CN" altLang="en-US" sz="1400">
              <a:solidFill>
                <a:srgbClr val="243746"/>
              </a:solidFill>
              <a:latin typeface="KaiTi"/>
              <a:ea typeface="KaiTi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A089F5E-160E-4AA9-809A-4305D1C9079F}"/>
              </a:ext>
            </a:extLst>
          </p:cNvPr>
          <p:cNvSpPr txBox="1"/>
          <p:nvPr/>
        </p:nvSpPr>
        <p:spPr>
          <a:xfrm>
            <a:off x="609600" y="31369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243746"/>
                </a:solidFill>
                <a:latin typeface="KaiTi"/>
                <a:ea typeface="KaiTi"/>
              </a:rPr>
              <a:t>运营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307239-D4FB-4D6D-919B-F75332E5568F}"/>
              </a:ext>
            </a:extLst>
          </p:cNvPr>
          <p:cNvSpPr/>
          <p:nvPr/>
        </p:nvSpPr>
        <p:spPr>
          <a:xfrm>
            <a:off x="2209800" y="3035300"/>
            <a:ext cx="4572000" cy="215900"/>
          </a:xfrm>
          <a:prstGeom prst="rect">
            <a:avLst/>
          </a:prstGeom>
          <a:solidFill>
            <a:srgbClr val="2E75B6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97B545-FF98-4D4C-A711-BF0B96D0EBF8}"/>
              </a:ext>
            </a:extLst>
          </p:cNvPr>
          <p:cNvSpPr/>
          <p:nvPr/>
        </p:nvSpPr>
        <p:spPr>
          <a:xfrm>
            <a:off x="2209800" y="3314700"/>
            <a:ext cx="4800600" cy="2159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E50E6F4-5386-4BA3-80E3-2324BB1A529E}"/>
              </a:ext>
            </a:extLst>
          </p:cNvPr>
          <p:cNvSpPr txBox="1"/>
          <p:nvPr/>
        </p:nvSpPr>
        <p:spPr>
          <a:xfrm>
            <a:off x="9461500" y="3086100"/>
            <a:ext cx="21082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400">
                <a:solidFill>
                  <a:srgbClr val="B64646"/>
                </a:solidFill>
                <a:latin typeface="KaiTi"/>
                <a:ea typeface="KaiTi"/>
              </a:rPr>
              <a:t>80 / 84</a:t>
            </a:r>
            <a:endParaRPr lang="zh-CN" altLang="en-US" sz="1400">
              <a:solidFill>
                <a:srgbClr val="B64646"/>
              </a:solidFill>
              <a:latin typeface="KaiTi"/>
              <a:ea typeface="KaiTi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8DB9587-6E1B-4A7D-BC4A-BC2EB74EF0DA}"/>
              </a:ext>
            </a:extLst>
          </p:cNvPr>
          <p:cNvSpPr txBox="1"/>
          <p:nvPr/>
        </p:nvSpPr>
        <p:spPr>
          <a:xfrm>
            <a:off x="609600" y="39243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243746"/>
                </a:solidFill>
                <a:latin typeface="KaiTi"/>
                <a:ea typeface="KaiTi"/>
              </a:rPr>
              <a:t>营销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5870A4-B897-44AC-9686-82940CBC10DE}"/>
              </a:ext>
            </a:extLst>
          </p:cNvPr>
          <p:cNvSpPr/>
          <p:nvPr/>
        </p:nvSpPr>
        <p:spPr>
          <a:xfrm>
            <a:off x="2209800" y="3822700"/>
            <a:ext cx="3429000" cy="215900"/>
          </a:xfrm>
          <a:prstGeom prst="rect">
            <a:avLst/>
          </a:prstGeom>
          <a:solidFill>
            <a:srgbClr val="2E75B6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0377C4E-D9B0-497C-8850-13B6A8EDB1D9}"/>
              </a:ext>
            </a:extLst>
          </p:cNvPr>
          <p:cNvSpPr/>
          <p:nvPr/>
        </p:nvSpPr>
        <p:spPr>
          <a:xfrm>
            <a:off x="2209800" y="4102100"/>
            <a:ext cx="3086100" cy="2159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EE1A01C-3653-4169-9AC9-CFF8853CD368}"/>
              </a:ext>
            </a:extLst>
          </p:cNvPr>
          <p:cNvSpPr txBox="1"/>
          <p:nvPr/>
        </p:nvSpPr>
        <p:spPr>
          <a:xfrm>
            <a:off x="9461500" y="3873500"/>
            <a:ext cx="21082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400">
                <a:solidFill>
                  <a:srgbClr val="243746"/>
                </a:solidFill>
                <a:latin typeface="KaiTi"/>
                <a:ea typeface="KaiTi"/>
              </a:rPr>
              <a:t>60 / 54</a:t>
            </a:r>
            <a:endParaRPr lang="zh-CN" altLang="en-US" sz="1400">
              <a:solidFill>
                <a:srgbClr val="243746"/>
              </a:solidFill>
              <a:latin typeface="KaiTi"/>
              <a:ea typeface="KaiTi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581E53B-B39A-431D-9C47-B81700CE7798}"/>
              </a:ext>
            </a:extLst>
          </p:cNvPr>
          <p:cNvSpPr txBox="1"/>
          <p:nvPr/>
        </p:nvSpPr>
        <p:spPr>
          <a:xfrm>
            <a:off x="609600" y="4711700"/>
            <a:ext cx="127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243746"/>
                </a:solidFill>
                <a:latin typeface="KaiTi"/>
                <a:ea typeface="KaiTi"/>
              </a:rPr>
              <a:t>支持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D7DB872-009B-43EA-A1B3-8F21CBA630A2}"/>
              </a:ext>
            </a:extLst>
          </p:cNvPr>
          <p:cNvSpPr/>
          <p:nvPr/>
        </p:nvSpPr>
        <p:spPr>
          <a:xfrm>
            <a:off x="2209800" y="4610100"/>
            <a:ext cx="2286000" cy="215900"/>
          </a:xfrm>
          <a:prstGeom prst="rect">
            <a:avLst/>
          </a:prstGeom>
          <a:solidFill>
            <a:srgbClr val="2E75B6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5E07A32-3F43-4504-BF2C-C7A3EE7F267C}"/>
              </a:ext>
            </a:extLst>
          </p:cNvPr>
          <p:cNvSpPr/>
          <p:nvPr/>
        </p:nvSpPr>
        <p:spPr>
          <a:xfrm>
            <a:off x="2209800" y="4889500"/>
            <a:ext cx="2171700" cy="2159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E161BB2-21B5-4F51-B540-EFF1D58A0167}"/>
              </a:ext>
            </a:extLst>
          </p:cNvPr>
          <p:cNvSpPr txBox="1"/>
          <p:nvPr/>
        </p:nvSpPr>
        <p:spPr>
          <a:xfrm>
            <a:off x="9461500" y="4660900"/>
            <a:ext cx="2108200" cy="444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400">
                <a:solidFill>
                  <a:srgbClr val="243746"/>
                </a:solidFill>
                <a:latin typeface="KaiTi"/>
                <a:ea typeface="KaiTi"/>
              </a:rPr>
              <a:t>40 / 38</a:t>
            </a:r>
            <a:endParaRPr lang="zh-CN" altLang="en-US" sz="1400">
              <a:solidFill>
                <a:srgbClr val="243746"/>
              </a:solidFill>
              <a:latin typeface="KaiTi"/>
              <a:ea typeface="KaiT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ED824A4-A134-46B9-8691-3A38BD76CA39}"/>
              </a:ext>
            </a:extLst>
          </p:cNvPr>
          <p:cNvSpPr txBox="1"/>
          <p:nvPr/>
        </p:nvSpPr>
        <p:spPr>
          <a:xfrm>
            <a:off x="609600" y="58166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400">
                <a:solidFill>
                  <a:srgbClr val="607486"/>
                </a:solidFill>
                <a:latin typeface="KaiTi"/>
                <a:ea typeface="KaiTi"/>
              </a:rPr>
              <a:t>原生矩形与文字组成数据图；数值、颜色和长度均可直接编辑。</a:t>
            </a:r>
          </a:p>
        </p:txBody>
      </p:sp>
    </p:spTree>
    <p:extLst>
      <p:ext uri="{BB962C8B-B14F-4D97-AF65-F5344CB8AC3E}">
        <p14:creationId xmlns:p14="http://schemas.microsoft.com/office/powerpoint/2010/main" val="321913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C63DEA8-272C-49D0-ADB3-E1D43B714C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D32100-0D2A-412E-8D99-DE961D55C5F6}"/>
              </a:ext>
            </a:extLst>
          </p:cNvPr>
          <p:cNvSpPr/>
          <p:nvPr/>
        </p:nvSpPr>
        <p:spPr>
          <a:xfrm>
            <a:off x="609600" y="1231900"/>
            <a:ext cx="609600" cy="50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C265E1-56A7-4A7A-9FAE-E11BD7E96FDF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原始图片 </a:t>
            </a:r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嵌入与图文编排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A095977-AE13-42E8-B68A-9412B29514E0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0CD9932-CEBE-47BF-9211-E969BCF506DC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6EE3FA-D2C8-498A-B505-98D983D2A5DD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06 / 10</a:t>
            </a:r>
            <a:endParaRPr lang="zh-CN" altLang="en-US" sz="1200">
              <a:solidFill>
                <a:srgbClr val="607486"/>
              </a:solidFill>
              <a:latin typeface="KaiTi"/>
              <a:ea typeface="KaiT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207DDE-BAFE-43F6-99AA-1CCF077017DE}"/>
              </a:ext>
            </a:extLst>
          </p:cNvPr>
          <p:cNvSpPr/>
          <p:nvPr/>
        </p:nvSpPr>
        <p:spPr>
          <a:xfrm>
            <a:off x="609600" y="1727200"/>
            <a:ext cx="7213600" cy="39751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B38B51-E294-4687-8E4E-2360964A6F9E}"/>
              </a:ext>
            </a:extLst>
          </p:cNvPr>
          <p:cNvSpPr txBox="1"/>
          <p:nvPr/>
        </p:nvSpPr>
        <p:spPr>
          <a:xfrm>
            <a:off x="8305800" y="1841500"/>
            <a:ext cx="3276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008C95"/>
                </a:solidFill>
                <a:latin typeface="KaiTi"/>
                <a:ea typeface="KaiTi"/>
              </a:rPr>
              <a:t>原始 </a:t>
            </a:r>
            <a:r>
              <a:rPr lang="en-US" altLang="zh-CN" sz="1600">
                <a:solidFill>
                  <a:srgbClr val="008C95"/>
                </a:solidFill>
                <a:latin typeface="KaiTi"/>
                <a:ea typeface="KaiTi"/>
              </a:rPr>
              <a:t>PNG</a:t>
            </a:r>
            <a:endParaRPr lang="zh-CN" altLang="en-US" sz="1600">
              <a:solidFill>
                <a:srgbClr val="008C95"/>
              </a:solidFill>
              <a:latin typeface="KaiTi"/>
              <a:ea typeface="KaiT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924102-11B3-407B-84F3-DE5A14151B84}"/>
              </a:ext>
            </a:extLst>
          </p:cNvPr>
          <p:cNvSpPr txBox="1"/>
          <p:nvPr/>
        </p:nvSpPr>
        <p:spPr>
          <a:xfrm>
            <a:off x="8305800" y="2552700"/>
            <a:ext cx="3276600" cy="162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嵌入素材保持原图
清晰边界与留白
文字说明独立可编辑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8E64EDD-ECB3-441D-97A8-FFAFAA84621B}"/>
              </a:ext>
            </a:extLst>
          </p:cNvPr>
          <p:cNvSpPr txBox="1"/>
          <p:nvPr/>
        </p:nvSpPr>
        <p:spPr>
          <a:xfrm>
            <a:off x="8305800" y="4559300"/>
            <a:ext cx="3276600" cy="927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用于视觉参考与流程概览。
详细步骤见下一页。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CA06ECD-333C-B3D3-7AD5-F59AA2B3BF6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580216"/>
            <a:ext cx="6807200" cy="22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4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02DD7A-7313-4DCB-B440-7EFFF9623A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6D524D-476D-46EF-872F-2E24C57472D2}"/>
              </a:ext>
            </a:extLst>
          </p:cNvPr>
          <p:cNvSpPr/>
          <p:nvPr/>
        </p:nvSpPr>
        <p:spPr>
          <a:xfrm>
            <a:off x="609600" y="1231900"/>
            <a:ext cx="609600" cy="50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4D6C66-A396-4767-A524-FC0AAFCCB6A2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四节点流程 </a:t>
            </a:r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原生连接线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71EAAD6-9BF0-4251-869B-D44AFA094FFB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88F79DE-C307-4C06-B107-26CAD78EB936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593874-8266-4429-AACC-03753E74D4E3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07 / 10</a:t>
            </a:r>
            <a:endParaRPr lang="zh-CN" altLang="en-US" sz="1200">
              <a:solidFill>
                <a:srgbClr val="607486"/>
              </a:solidFill>
              <a:latin typeface="KaiTi"/>
              <a:ea typeface="KaiT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8EB480-F012-4DBB-B00A-3C79F12454BE}"/>
              </a:ext>
            </a:extLst>
          </p:cNvPr>
          <p:cNvSpPr txBox="1"/>
          <p:nvPr/>
        </p:nvSpPr>
        <p:spPr>
          <a:xfrm>
            <a:off x="609600" y="15494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每一步都有明确输出，连接线以 </a:t>
            </a:r>
            <a:r>
              <a:rPr lang="en-US" altLang="zh-CN">
                <a:solidFill>
                  <a:srgbClr val="243746"/>
                </a:solidFill>
                <a:latin typeface="KaiTi"/>
                <a:ea typeface="KaiTi"/>
              </a:rPr>
              <a:t>Office </a:t>
            </a:r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原生线条保留。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39A98AC-A3B1-4506-8A76-50A4337E3F8B}"/>
              </a:ext>
            </a:extLst>
          </p:cNvPr>
          <p:cNvSpPr/>
          <p:nvPr/>
        </p:nvSpPr>
        <p:spPr>
          <a:xfrm>
            <a:off x="609600" y="2755900"/>
            <a:ext cx="2286000" cy="1168400"/>
          </a:xfrm>
          <a:prstGeom prst="roundRect">
            <a:avLst/>
          </a:prstGeom>
          <a:solidFill>
            <a:srgbClr val="17365D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ctr" anchorCtr="0">
            <a:noAutofit/>
          </a:bodyPr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KaiTi"/>
                <a:ea typeface="KaiTi"/>
              </a:rPr>
              <a:t>需求归集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537855-14EA-4D5F-AF8B-45182412AED8}"/>
              </a:ext>
            </a:extLst>
          </p:cNvPr>
          <p:cNvSpPr txBox="1"/>
          <p:nvPr/>
        </p:nvSpPr>
        <p:spPr>
          <a:xfrm>
            <a:off x="609600" y="43815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收集业务目标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009B973-7A21-4F72-BACD-7AEE3C6DE300}"/>
              </a:ext>
            </a:extLst>
          </p:cNvPr>
          <p:cNvSpPr/>
          <p:nvPr/>
        </p:nvSpPr>
        <p:spPr>
          <a:xfrm>
            <a:off x="3505200" y="2755900"/>
            <a:ext cx="2286000" cy="1168400"/>
          </a:xfrm>
          <a:prstGeom prst="roundRect">
            <a:avLst/>
          </a:prstGeom>
          <a:solidFill>
            <a:srgbClr val="17365D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ctr" anchorCtr="0">
            <a:noAutofit/>
          </a:bodyPr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KaiTi"/>
                <a:ea typeface="KaiTi"/>
              </a:rPr>
              <a:t>预算评审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B80EFC4-5B0A-477F-94BD-44AFB9F4BC35}"/>
              </a:ext>
            </a:extLst>
          </p:cNvPr>
          <p:cNvSpPr txBox="1"/>
          <p:nvPr/>
        </p:nvSpPr>
        <p:spPr>
          <a:xfrm>
            <a:off x="3505200" y="43815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确认资源边界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7373EEB-5780-42BB-A77A-31D492F62918}"/>
              </a:ext>
            </a:extLst>
          </p:cNvPr>
          <p:cNvSpPr/>
          <p:nvPr/>
        </p:nvSpPr>
        <p:spPr>
          <a:xfrm>
            <a:off x="6400800" y="2755900"/>
            <a:ext cx="2286000" cy="1168400"/>
          </a:xfrm>
          <a:prstGeom prst="roundRect">
            <a:avLst/>
          </a:prstGeom>
          <a:solidFill>
            <a:srgbClr val="17365D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ctr" anchorCtr="0">
            <a:noAutofit/>
          </a:bodyPr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KaiTi"/>
                <a:ea typeface="KaiTi"/>
              </a:rPr>
              <a:t>执行跟踪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6F3D2C-2C13-4CDC-BB5C-9FEBC2AF034A}"/>
              </a:ext>
            </a:extLst>
          </p:cNvPr>
          <p:cNvSpPr txBox="1"/>
          <p:nvPr/>
        </p:nvSpPr>
        <p:spPr>
          <a:xfrm>
            <a:off x="6400800" y="43815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记录实际支出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4BF8564-7510-45F6-8EC8-A90D6AEC92F2}"/>
              </a:ext>
            </a:extLst>
          </p:cNvPr>
          <p:cNvSpPr/>
          <p:nvPr/>
        </p:nvSpPr>
        <p:spPr>
          <a:xfrm>
            <a:off x="9296400" y="2755900"/>
            <a:ext cx="2286000" cy="1168400"/>
          </a:xfrm>
          <a:prstGeom prst="round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ctr" anchorCtr="0">
            <a:noAutofit/>
          </a:bodyPr>
          <a:lstStyle/>
          <a:p>
            <a:pPr algn="ctr"/>
            <a:r>
              <a:rPr lang="zh-CN" altLang="en-US">
                <a:solidFill>
                  <a:srgbClr val="FFFFFF"/>
                </a:solidFill>
                <a:latin typeface="KaiTi"/>
                <a:ea typeface="KaiTi"/>
              </a:rPr>
              <a:t>复盘改进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1EA20C-E67A-4B4D-BDE8-5A84CB83185C}"/>
              </a:ext>
            </a:extLst>
          </p:cNvPr>
          <p:cNvSpPr txBox="1"/>
          <p:nvPr/>
        </p:nvSpPr>
        <p:spPr>
          <a:xfrm>
            <a:off x="9296400" y="4381500"/>
            <a:ext cx="2286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ctr"/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形成改进清单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D2DCBA0-8F96-4981-B446-D83E8BF78742}"/>
              </a:ext>
            </a:extLst>
          </p:cNvPr>
          <p:cNvCxnSpPr/>
          <p:nvPr/>
        </p:nvCxnSpPr>
        <p:spPr>
          <a:xfrm>
            <a:off x="2895600" y="3340100"/>
            <a:ext cx="609600" cy="0"/>
          </a:xfrm>
          <a:prstGeom prst="straightConnector1">
            <a:avLst/>
          </a:prstGeom>
          <a:ln w="3810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1051DEE-0E20-400E-A1BD-8523F39E81F8}"/>
              </a:ext>
            </a:extLst>
          </p:cNvPr>
          <p:cNvCxnSpPr/>
          <p:nvPr/>
        </p:nvCxnSpPr>
        <p:spPr>
          <a:xfrm>
            <a:off x="5791200" y="3340100"/>
            <a:ext cx="609600" cy="0"/>
          </a:xfrm>
          <a:prstGeom prst="straightConnector1">
            <a:avLst/>
          </a:prstGeom>
          <a:ln w="3810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B50BC8B-BC55-42D9-86C2-BD4F621C6CCE}"/>
              </a:ext>
            </a:extLst>
          </p:cNvPr>
          <p:cNvCxnSpPr/>
          <p:nvPr/>
        </p:nvCxnSpPr>
        <p:spPr>
          <a:xfrm>
            <a:off x="8686800" y="3340100"/>
            <a:ext cx="609600" cy="0"/>
          </a:xfrm>
          <a:prstGeom prst="straightConnector1">
            <a:avLst/>
          </a:prstGeom>
          <a:ln w="3810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47E4DAA-0D8F-43C0-B502-3212C8D98225}"/>
              </a:ext>
            </a:extLst>
          </p:cNvPr>
          <p:cNvSpPr txBox="1"/>
          <p:nvPr/>
        </p:nvSpPr>
        <p:spPr>
          <a:xfrm>
            <a:off x="609600" y="55118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17365D"/>
                </a:solidFill>
                <a:latin typeface="KaiTi"/>
                <a:ea typeface="KaiTi"/>
              </a:rPr>
              <a:t>输入：四类预算 </a:t>
            </a:r>
            <a:r>
              <a:rPr lang="en-US" altLang="zh-CN" sz="1600">
                <a:solidFill>
                  <a:srgbClr val="17365D"/>
                </a:solidFill>
                <a:latin typeface="KaiTi"/>
                <a:ea typeface="KaiTi"/>
              </a:rPr>
              <a:t>300 </a:t>
            </a:r>
            <a:r>
              <a:rPr lang="zh-CN" altLang="en-US" sz="1600">
                <a:solidFill>
                  <a:srgbClr val="17365D"/>
                </a:solidFill>
                <a:latin typeface="KaiTi"/>
                <a:ea typeface="KaiTi"/>
              </a:rPr>
              <a:t>万元     输出：实际 </a:t>
            </a:r>
            <a:r>
              <a:rPr lang="en-US" altLang="zh-CN" sz="1600">
                <a:solidFill>
                  <a:srgbClr val="17365D"/>
                </a:solidFill>
                <a:latin typeface="KaiTi"/>
                <a:ea typeface="KaiTi"/>
              </a:rPr>
              <a:t>290 </a:t>
            </a:r>
            <a:r>
              <a:rPr lang="zh-CN" altLang="en-US" sz="1600">
                <a:solidFill>
                  <a:srgbClr val="17365D"/>
                </a:solidFill>
                <a:latin typeface="KaiTi"/>
                <a:ea typeface="KaiTi"/>
              </a:rPr>
              <a:t>万元，执行率 </a:t>
            </a:r>
            <a:r>
              <a:rPr lang="en-US" altLang="zh-CN" sz="1600">
                <a:solidFill>
                  <a:srgbClr val="17365D"/>
                </a:solidFill>
                <a:latin typeface="KaiTi"/>
                <a:ea typeface="KaiTi"/>
              </a:rPr>
              <a:t>96.7%</a:t>
            </a:r>
            <a:endParaRPr lang="zh-CN" altLang="en-US" sz="1600">
              <a:solidFill>
                <a:srgbClr val="17365D"/>
              </a:solidFill>
              <a:latin typeface="KaiTi"/>
              <a:ea typeface="KaiTi"/>
            </a:endParaRPr>
          </a:p>
        </p:txBody>
      </p:sp>
    </p:spTree>
    <p:extLst>
      <p:ext uri="{BB962C8B-B14F-4D97-AF65-F5344CB8AC3E}">
        <p14:creationId xmlns:p14="http://schemas.microsoft.com/office/powerpoint/2010/main" val="2356952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29B5175-35EC-4AEB-8CE3-37F87FAAC0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D665CF-0297-4FEA-AA44-7035910F569B}"/>
              </a:ext>
            </a:extLst>
          </p:cNvPr>
          <p:cNvSpPr/>
          <p:nvPr/>
        </p:nvSpPr>
        <p:spPr>
          <a:xfrm>
            <a:off x="609600" y="1231900"/>
            <a:ext cx="609600" cy="50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DCD5B0-717B-433F-86C5-EAB882E7A6A1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时间线 </a:t>
            </a:r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三栏行动计划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9888B41-0FC5-4B55-BBCB-94880583D0B6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4B240EB-8AE1-4508-A3C2-E7735CFD6FD4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DDC5ECD-6E96-4ECC-B786-2D8075B9FBFA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08 / 10</a:t>
            </a:r>
            <a:endParaRPr lang="zh-CN" altLang="en-US" sz="1200">
              <a:solidFill>
                <a:srgbClr val="607486"/>
              </a:solidFill>
              <a:latin typeface="KaiTi"/>
              <a:ea typeface="KaiTi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0E497F3-C049-4E90-B28F-6F8AD7933A5F}"/>
              </a:ext>
            </a:extLst>
          </p:cNvPr>
          <p:cNvCxnSpPr/>
          <p:nvPr/>
        </p:nvCxnSpPr>
        <p:spPr>
          <a:xfrm>
            <a:off x="1524000" y="2324100"/>
            <a:ext cx="9144000" cy="0"/>
          </a:xfrm>
          <a:prstGeom prst="straightConnector1">
            <a:avLst/>
          </a:prstGeom>
          <a:ln w="3810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904379CC-0D88-4249-9003-1CC30799E60F}"/>
              </a:ext>
            </a:extLst>
          </p:cNvPr>
          <p:cNvSpPr/>
          <p:nvPr/>
        </p:nvSpPr>
        <p:spPr>
          <a:xfrm>
            <a:off x="1828800" y="2171700"/>
            <a:ext cx="304800" cy="304800"/>
          </a:xfrm>
          <a:prstGeom prst="ellipse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1A2EFE-6228-4494-9C57-2038DDE8B7FD}"/>
              </a:ext>
            </a:extLst>
          </p:cNvPr>
          <p:cNvSpPr txBox="1"/>
          <p:nvPr/>
        </p:nvSpPr>
        <p:spPr>
          <a:xfrm>
            <a:off x="609600" y="2844800"/>
            <a:ext cx="34544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17365D"/>
                </a:solidFill>
                <a:latin typeface="SimHei"/>
                <a:ea typeface="SimHei"/>
              </a:rPr>
              <a:t>月初 </a:t>
            </a:r>
            <a:r>
              <a:rPr lang="en-US" altLang="zh-CN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>
                <a:solidFill>
                  <a:srgbClr val="17365D"/>
                </a:solidFill>
                <a:latin typeface="SimHei"/>
                <a:ea typeface="SimHei"/>
              </a:rPr>
              <a:t>规划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C7A5B3-C127-4ED0-BB43-6AFEA214A6C6}"/>
              </a:ext>
            </a:extLst>
          </p:cNvPr>
          <p:cNvSpPr/>
          <p:nvPr/>
        </p:nvSpPr>
        <p:spPr>
          <a:xfrm>
            <a:off x="609600" y="3530600"/>
            <a:ext cx="3454400" cy="21717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E3DECB-47FA-41BC-9B06-705125467D6A}"/>
              </a:ext>
            </a:extLst>
          </p:cNvPr>
          <p:cNvSpPr txBox="1"/>
          <p:nvPr/>
        </p:nvSpPr>
        <p:spPr>
          <a:xfrm>
            <a:off x="838200" y="3759200"/>
            <a:ext cx="2997200" cy="1689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按四类配置预算
建立责任人与基线
锁定总额 </a:t>
            </a:r>
            <a:r>
              <a:rPr lang="en-US" altLang="zh-CN">
                <a:solidFill>
                  <a:srgbClr val="243746"/>
                </a:solidFill>
                <a:latin typeface="KaiTi"/>
                <a:ea typeface="KaiTi"/>
              </a:rPr>
              <a:t>300 </a:t>
            </a:r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万元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AFA3479-775D-44DD-9C43-44689B72296E}"/>
              </a:ext>
            </a:extLst>
          </p:cNvPr>
          <p:cNvSpPr/>
          <p:nvPr/>
        </p:nvSpPr>
        <p:spPr>
          <a:xfrm>
            <a:off x="5486400" y="2171700"/>
            <a:ext cx="304800" cy="304800"/>
          </a:xfrm>
          <a:prstGeom prst="ellipse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87101B2-62C4-41AD-80D5-37F87ACDD4C5}"/>
              </a:ext>
            </a:extLst>
          </p:cNvPr>
          <p:cNvSpPr txBox="1"/>
          <p:nvPr/>
        </p:nvSpPr>
        <p:spPr>
          <a:xfrm>
            <a:off x="4368800" y="2844800"/>
            <a:ext cx="34544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17365D"/>
                </a:solidFill>
                <a:latin typeface="SimHei"/>
                <a:ea typeface="SimHei"/>
              </a:rPr>
              <a:t>月中 </a:t>
            </a:r>
            <a:r>
              <a:rPr lang="en-US" altLang="zh-CN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>
                <a:solidFill>
                  <a:srgbClr val="17365D"/>
                </a:solidFill>
                <a:latin typeface="SimHei"/>
                <a:ea typeface="SimHei"/>
              </a:rPr>
              <a:t>跟踪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552631-E65A-4328-ABD1-6EEC67ED9AF6}"/>
              </a:ext>
            </a:extLst>
          </p:cNvPr>
          <p:cNvSpPr/>
          <p:nvPr/>
        </p:nvSpPr>
        <p:spPr>
          <a:xfrm>
            <a:off x="4368800" y="3530600"/>
            <a:ext cx="3454400" cy="21717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DEDB525-05D5-4377-9F54-0D4B805BB27E}"/>
              </a:ext>
            </a:extLst>
          </p:cNvPr>
          <p:cNvSpPr txBox="1"/>
          <p:nvPr/>
        </p:nvSpPr>
        <p:spPr>
          <a:xfrm>
            <a:off x="4597400" y="3759200"/>
            <a:ext cx="2997200" cy="1689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记录实际支出
运营超支及时提醒
滚动更新执行进度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45A1F4F-F596-4C90-844A-05ED6FDB983E}"/>
              </a:ext>
            </a:extLst>
          </p:cNvPr>
          <p:cNvSpPr/>
          <p:nvPr/>
        </p:nvSpPr>
        <p:spPr>
          <a:xfrm>
            <a:off x="9144000" y="2171700"/>
            <a:ext cx="304800" cy="304800"/>
          </a:xfrm>
          <a:prstGeom prst="ellipse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B2A9F39-CB94-46AF-AD34-9C65FC40ECE3}"/>
              </a:ext>
            </a:extLst>
          </p:cNvPr>
          <p:cNvSpPr txBox="1"/>
          <p:nvPr/>
        </p:nvSpPr>
        <p:spPr>
          <a:xfrm>
            <a:off x="8128000" y="2844800"/>
            <a:ext cx="3454400" cy="48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17365D"/>
                </a:solidFill>
                <a:latin typeface="SimHei"/>
                <a:ea typeface="SimHei"/>
              </a:rPr>
              <a:t>月末 </a:t>
            </a:r>
            <a:r>
              <a:rPr lang="en-US" altLang="zh-CN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>
                <a:solidFill>
                  <a:srgbClr val="17365D"/>
                </a:solidFill>
                <a:latin typeface="SimHei"/>
                <a:ea typeface="SimHei"/>
              </a:rPr>
              <a:t>复盘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45CFAF-8CC7-4448-BCCE-4A8BCEF4006A}"/>
              </a:ext>
            </a:extLst>
          </p:cNvPr>
          <p:cNvSpPr/>
          <p:nvPr/>
        </p:nvSpPr>
        <p:spPr>
          <a:xfrm>
            <a:off x="8128000" y="3530600"/>
            <a:ext cx="3454400" cy="21717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9EDB38-119C-43BF-A6C3-093106582DCA}"/>
              </a:ext>
            </a:extLst>
          </p:cNvPr>
          <p:cNvSpPr txBox="1"/>
          <p:nvPr/>
        </p:nvSpPr>
        <p:spPr>
          <a:xfrm>
            <a:off x="8356600" y="3759200"/>
            <a:ext cx="2997200" cy="1689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核对实际 </a:t>
            </a:r>
            <a:r>
              <a:rPr lang="en-US" altLang="zh-CN">
                <a:solidFill>
                  <a:srgbClr val="243746"/>
                </a:solidFill>
                <a:latin typeface="KaiTi"/>
                <a:ea typeface="KaiTi"/>
              </a:rPr>
              <a:t>290 </a:t>
            </a:r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万元
确认结余 </a:t>
            </a:r>
            <a:r>
              <a:rPr lang="en-US" altLang="zh-CN">
                <a:solidFill>
                  <a:srgbClr val="243746"/>
                </a:solidFill>
                <a:latin typeface="KaiTi"/>
                <a:ea typeface="KaiTi"/>
              </a:rPr>
              <a:t>10 </a:t>
            </a:r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万元
归档执行率 </a:t>
            </a:r>
            <a:r>
              <a:rPr lang="en-US" altLang="zh-CN">
                <a:solidFill>
                  <a:srgbClr val="243746"/>
                </a:solidFill>
                <a:latin typeface="KaiTi"/>
                <a:ea typeface="KaiTi"/>
              </a:rPr>
              <a:t>96.7%</a:t>
            </a:r>
            <a:endParaRPr lang="zh-CN" altLang="en-US">
              <a:solidFill>
                <a:srgbClr val="243746"/>
              </a:solidFill>
              <a:latin typeface="KaiTi"/>
              <a:ea typeface="KaiTi"/>
            </a:endParaRPr>
          </a:p>
        </p:txBody>
      </p:sp>
    </p:spTree>
    <p:extLst>
      <p:ext uri="{BB962C8B-B14F-4D97-AF65-F5344CB8AC3E}">
        <p14:creationId xmlns:p14="http://schemas.microsoft.com/office/powerpoint/2010/main" val="3457624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0C54F20-7B16-4194-B41C-CFF2671BC7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E50C87-92C0-490C-8641-35A7A842EA05}"/>
              </a:ext>
            </a:extLst>
          </p:cNvPr>
          <p:cNvSpPr/>
          <p:nvPr/>
        </p:nvSpPr>
        <p:spPr>
          <a:xfrm>
            <a:off x="609600" y="1231900"/>
            <a:ext cx="609600" cy="50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7C9666-8242-4A62-9E32-DDC92CB86F75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色彩角色 </a:t>
            </a:r>
            <a:r>
              <a:rPr lang="en-US" altLang="zh-CN" sz="3000">
                <a:solidFill>
                  <a:srgbClr val="17365D"/>
                </a:solidFill>
                <a:latin typeface="SimHei"/>
                <a:ea typeface="SimHei"/>
              </a:rPr>
              <a:t>· </a:t>
            </a:r>
            <a:r>
              <a:rPr lang="zh-CN" altLang="en-US" sz="3000">
                <a:solidFill>
                  <a:srgbClr val="17365D"/>
                </a:solidFill>
                <a:latin typeface="SimHei"/>
                <a:ea typeface="SimHei"/>
              </a:rPr>
              <a:t>对齐网格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C8C6DBE-81AD-4272-AD7D-06FD2AF48B6D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D6E0E9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FCB3DE4-C375-41C7-BBED-1C6CC1C95CF4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A5134F-D283-4672-ABD9-B5BB9E7A5965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09 / 10</a:t>
            </a:r>
            <a:endParaRPr lang="zh-CN" altLang="en-US" sz="1200">
              <a:solidFill>
                <a:srgbClr val="607486"/>
              </a:solidFill>
              <a:latin typeface="KaiTi"/>
              <a:ea typeface="KaiT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03228C-33B2-4B30-A511-CD2E041DBAAC}"/>
              </a:ext>
            </a:extLst>
          </p:cNvPr>
          <p:cNvSpPr txBox="1"/>
          <p:nvPr/>
        </p:nvSpPr>
        <p:spPr>
          <a:xfrm>
            <a:off x="609600" y="15240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243746"/>
                </a:solidFill>
                <a:latin typeface="KaiTi"/>
                <a:ea typeface="KaiTi"/>
              </a:rPr>
              <a:t>语义化色彩与统一留白，使页面可以复用和扩展。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1B7E2E-22DD-44E8-80DD-13510B5F4DE9}"/>
              </a:ext>
            </a:extLst>
          </p:cNvPr>
          <p:cNvSpPr/>
          <p:nvPr/>
        </p:nvSpPr>
        <p:spPr>
          <a:xfrm>
            <a:off x="609600" y="2336800"/>
            <a:ext cx="3454400" cy="14478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BCF138-91A1-446C-A7B2-80C0C33BCA0C}"/>
              </a:ext>
            </a:extLst>
          </p:cNvPr>
          <p:cNvSpPr/>
          <p:nvPr/>
        </p:nvSpPr>
        <p:spPr>
          <a:xfrm>
            <a:off x="609600" y="2336800"/>
            <a:ext cx="889000" cy="1447800"/>
          </a:xfrm>
          <a:prstGeom prst="rect">
            <a:avLst/>
          </a:prstGeom>
          <a:solidFill>
            <a:srgbClr val="17365D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C8E4F4-B5FD-4B22-8E98-6AE0EE987CD9}"/>
              </a:ext>
            </a:extLst>
          </p:cNvPr>
          <p:cNvSpPr txBox="1"/>
          <p:nvPr/>
        </p:nvSpPr>
        <p:spPr>
          <a:xfrm>
            <a:off x="1727200" y="25400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17365D"/>
                </a:solidFill>
                <a:latin typeface="SimHei"/>
                <a:ea typeface="SimHei"/>
              </a:rPr>
              <a:t>主色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F511D5-0F16-431E-A0CB-663BE65C9B33}"/>
              </a:ext>
            </a:extLst>
          </p:cNvPr>
          <p:cNvSpPr txBox="1"/>
          <p:nvPr/>
        </p:nvSpPr>
        <p:spPr>
          <a:xfrm>
            <a:off x="1727200" y="30607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标题与结构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2A073EB-BBFD-4B46-9D9D-3E6AC32D71AC}"/>
              </a:ext>
            </a:extLst>
          </p:cNvPr>
          <p:cNvSpPr/>
          <p:nvPr/>
        </p:nvSpPr>
        <p:spPr>
          <a:xfrm>
            <a:off x="4368800" y="2336800"/>
            <a:ext cx="3454400" cy="14478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B7B510-DBF7-4783-905A-DC2D7944419A}"/>
              </a:ext>
            </a:extLst>
          </p:cNvPr>
          <p:cNvSpPr/>
          <p:nvPr/>
        </p:nvSpPr>
        <p:spPr>
          <a:xfrm>
            <a:off x="4368800" y="2336800"/>
            <a:ext cx="889000" cy="1447800"/>
          </a:xfrm>
          <a:prstGeom prst="rect">
            <a:avLst/>
          </a:prstGeom>
          <a:solidFill>
            <a:srgbClr val="2E75B6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F3B0F81-D7C4-4487-8EB9-ECF1D0E259B5}"/>
              </a:ext>
            </a:extLst>
          </p:cNvPr>
          <p:cNvSpPr txBox="1"/>
          <p:nvPr/>
        </p:nvSpPr>
        <p:spPr>
          <a:xfrm>
            <a:off x="5486400" y="25400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17365D"/>
                </a:solidFill>
                <a:latin typeface="SimHei"/>
                <a:ea typeface="SimHei"/>
              </a:rPr>
              <a:t>信息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F30725B-5AFF-4F9B-AAE5-AED6D943098F}"/>
              </a:ext>
            </a:extLst>
          </p:cNvPr>
          <p:cNvSpPr txBox="1"/>
          <p:nvPr/>
        </p:nvSpPr>
        <p:spPr>
          <a:xfrm>
            <a:off x="5486400" y="30607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预算与基线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E9C298D-D183-4E48-B499-F4568762988F}"/>
              </a:ext>
            </a:extLst>
          </p:cNvPr>
          <p:cNvSpPr/>
          <p:nvPr/>
        </p:nvSpPr>
        <p:spPr>
          <a:xfrm>
            <a:off x="8128000" y="2336800"/>
            <a:ext cx="3454400" cy="14478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8ACC0F-7DD0-46AD-B0FD-6A44F1CA08F5}"/>
              </a:ext>
            </a:extLst>
          </p:cNvPr>
          <p:cNvSpPr/>
          <p:nvPr/>
        </p:nvSpPr>
        <p:spPr>
          <a:xfrm>
            <a:off x="8128000" y="2336800"/>
            <a:ext cx="889000" cy="1447800"/>
          </a:xfrm>
          <a:prstGeom prst="rect">
            <a:avLst/>
          </a:prstGeom>
          <a:solidFill>
            <a:srgbClr val="008C95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0F6256-66A8-4C2C-9D32-BDDA01E0A7A2}"/>
              </a:ext>
            </a:extLst>
          </p:cNvPr>
          <p:cNvSpPr txBox="1"/>
          <p:nvPr/>
        </p:nvSpPr>
        <p:spPr>
          <a:xfrm>
            <a:off x="9245600" y="25400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17365D"/>
                </a:solidFill>
                <a:latin typeface="SimHei"/>
                <a:ea typeface="SimHei"/>
              </a:rPr>
              <a:t>执行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60C3ED-C9AA-4E48-939E-E1EDD32758AC}"/>
              </a:ext>
            </a:extLst>
          </p:cNvPr>
          <p:cNvSpPr txBox="1"/>
          <p:nvPr/>
        </p:nvSpPr>
        <p:spPr>
          <a:xfrm>
            <a:off x="9245600" y="30607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实际与完成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2DAE89-5024-43B4-A0E2-6A53A0149B37}"/>
              </a:ext>
            </a:extLst>
          </p:cNvPr>
          <p:cNvSpPr/>
          <p:nvPr/>
        </p:nvSpPr>
        <p:spPr>
          <a:xfrm>
            <a:off x="609600" y="4089400"/>
            <a:ext cx="3454400" cy="14478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A939467-7147-41DB-B3AD-CF34CC09ACE6}"/>
              </a:ext>
            </a:extLst>
          </p:cNvPr>
          <p:cNvSpPr/>
          <p:nvPr/>
        </p:nvSpPr>
        <p:spPr>
          <a:xfrm>
            <a:off x="609600" y="4089400"/>
            <a:ext cx="889000" cy="1447800"/>
          </a:xfrm>
          <a:prstGeom prst="rect">
            <a:avLst/>
          </a:prstGeom>
          <a:solidFill>
            <a:srgbClr val="D49A27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51D4EBC-60F3-4BAC-9608-21ADDD297741}"/>
              </a:ext>
            </a:extLst>
          </p:cNvPr>
          <p:cNvSpPr txBox="1"/>
          <p:nvPr/>
        </p:nvSpPr>
        <p:spPr>
          <a:xfrm>
            <a:off x="1727200" y="42926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17365D"/>
                </a:solidFill>
                <a:latin typeface="SimHei"/>
                <a:ea typeface="SimHei"/>
              </a:rPr>
              <a:t>提醒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74FE5FF-938A-49A5-831B-1C32B14F1C8B}"/>
              </a:ext>
            </a:extLst>
          </p:cNvPr>
          <p:cNvSpPr txBox="1"/>
          <p:nvPr/>
        </p:nvSpPr>
        <p:spPr>
          <a:xfrm>
            <a:off x="1727200" y="48133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关注与重点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D85B0C8-C3F5-440B-A0B5-C11697BD9203}"/>
              </a:ext>
            </a:extLst>
          </p:cNvPr>
          <p:cNvSpPr/>
          <p:nvPr/>
        </p:nvSpPr>
        <p:spPr>
          <a:xfrm>
            <a:off x="4368800" y="4089400"/>
            <a:ext cx="3454400" cy="14478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264D54-6A16-4B8C-80EA-EAB7BBD5AB39}"/>
              </a:ext>
            </a:extLst>
          </p:cNvPr>
          <p:cNvSpPr/>
          <p:nvPr/>
        </p:nvSpPr>
        <p:spPr>
          <a:xfrm>
            <a:off x="4368800" y="4089400"/>
            <a:ext cx="889000" cy="1447800"/>
          </a:xfrm>
          <a:prstGeom prst="rect">
            <a:avLst/>
          </a:prstGeom>
          <a:solidFill>
            <a:srgbClr val="B64646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6ADC96B-4456-4D79-A192-084251E43091}"/>
              </a:ext>
            </a:extLst>
          </p:cNvPr>
          <p:cNvSpPr txBox="1"/>
          <p:nvPr/>
        </p:nvSpPr>
        <p:spPr>
          <a:xfrm>
            <a:off x="5486400" y="42926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17365D"/>
                </a:solidFill>
                <a:latin typeface="SimHei"/>
                <a:ea typeface="SimHei"/>
              </a:rPr>
              <a:t>风险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FFD6C7-5A80-473E-B23C-A28462A62928}"/>
              </a:ext>
            </a:extLst>
          </p:cNvPr>
          <p:cNvSpPr txBox="1"/>
          <p:nvPr/>
        </p:nvSpPr>
        <p:spPr>
          <a:xfrm>
            <a:off x="5486400" y="48133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超支与异常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BB9E9CE-B823-4DC5-8F67-DC1F1E954CFC}"/>
              </a:ext>
            </a:extLst>
          </p:cNvPr>
          <p:cNvSpPr/>
          <p:nvPr/>
        </p:nvSpPr>
        <p:spPr>
          <a:xfrm>
            <a:off x="8128000" y="4089400"/>
            <a:ext cx="3454400" cy="14478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604975D-2C98-43FE-A5F6-53B9A548C5A3}"/>
              </a:ext>
            </a:extLst>
          </p:cNvPr>
          <p:cNvSpPr/>
          <p:nvPr/>
        </p:nvSpPr>
        <p:spPr>
          <a:xfrm>
            <a:off x="8128000" y="4089400"/>
            <a:ext cx="889000" cy="1447800"/>
          </a:xfrm>
          <a:prstGeom prst="rect">
            <a:avLst/>
          </a:prstGeom>
          <a:solidFill>
            <a:srgbClr val="EDF3F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C6CE9AA-4274-49F0-A792-D56004B05022}"/>
              </a:ext>
            </a:extLst>
          </p:cNvPr>
          <p:cNvSpPr txBox="1"/>
          <p:nvPr/>
        </p:nvSpPr>
        <p:spPr>
          <a:xfrm>
            <a:off x="9245600" y="42926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17365D"/>
                </a:solidFill>
                <a:latin typeface="SimHei"/>
                <a:ea typeface="SimHei"/>
              </a:rPr>
              <a:t>底色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AF066E6-472C-4D8E-8F70-435082A660BB}"/>
              </a:ext>
            </a:extLst>
          </p:cNvPr>
          <p:cNvSpPr txBox="1"/>
          <p:nvPr/>
        </p:nvSpPr>
        <p:spPr>
          <a:xfrm>
            <a:off x="9245600" y="48133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607486"/>
                </a:solidFill>
                <a:latin typeface="KaiTi"/>
                <a:ea typeface="KaiTi"/>
              </a:rPr>
              <a:t>容器与分区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D97154E-2F8E-4DFC-9A1D-EB6E53DA6D3C}"/>
              </a:ext>
            </a:extLst>
          </p:cNvPr>
          <p:cNvSpPr txBox="1"/>
          <p:nvPr/>
        </p:nvSpPr>
        <p:spPr>
          <a:xfrm>
            <a:off x="609600" y="59055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设计网格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960 × 540 pt  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外边距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48 pt  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三栏内容宽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272 pt  ·  </a:t>
            </a:r>
            <a:r>
              <a:rPr lang="zh-CN" altLang="en-US" sz="1200">
                <a:solidFill>
                  <a:srgbClr val="607486"/>
                </a:solidFill>
                <a:latin typeface="KaiTi"/>
                <a:ea typeface="KaiTi"/>
              </a:rPr>
              <a:t>栏间距 </a:t>
            </a:r>
            <a:r>
              <a:rPr lang="en-US" altLang="zh-CN" sz="1200">
                <a:solidFill>
                  <a:srgbClr val="607486"/>
                </a:solidFill>
                <a:latin typeface="KaiTi"/>
                <a:ea typeface="KaiTi"/>
              </a:rPr>
              <a:t>24 pt</a:t>
            </a:r>
            <a:endParaRPr lang="zh-CN" altLang="en-US" sz="1200">
              <a:solidFill>
                <a:srgbClr val="607486"/>
              </a:solidFill>
              <a:latin typeface="KaiTi"/>
              <a:ea typeface="KaiTi"/>
            </a:endParaRPr>
          </a:p>
        </p:txBody>
      </p:sp>
    </p:spTree>
    <p:extLst>
      <p:ext uri="{BB962C8B-B14F-4D97-AF65-F5344CB8AC3E}">
        <p14:creationId xmlns:p14="http://schemas.microsoft.com/office/powerpoint/2010/main" val="4109100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F109CDA-B3B7-4727-B4EA-76D09EDAB7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65D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2EECB90-2526-4E4C-865F-DA271DC61DDA}"/>
              </a:ext>
            </a:extLst>
          </p:cNvPr>
          <p:cNvSpPr txBox="1"/>
          <p:nvPr/>
        </p:nvSpPr>
        <p:spPr>
          <a:xfrm>
            <a:off x="609600" y="4064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FFFFFF"/>
                </a:solidFill>
                <a:latin typeface="SimHei"/>
                <a:ea typeface="SimHei"/>
              </a:rPr>
              <a:t>从样式一致，到表达清楚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5B59996-B4E1-48D2-90FB-0D07C2B7E0EA}"/>
              </a:ext>
            </a:extLst>
          </p:cNvPr>
          <p:cNvCxnSpPr/>
          <p:nvPr/>
        </p:nvCxnSpPr>
        <p:spPr>
          <a:xfrm>
            <a:off x="609600" y="6248400"/>
            <a:ext cx="10972800" cy="0"/>
          </a:xfrm>
          <a:prstGeom prst="straightConnector1">
            <a:avLst/>
          </a:prstGeom>
          <a:ln w="12700" cap="flat" cmpd="sng" algn="ctr">
            <a:solidFill>
              <a:srgbClr val="426183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43D3C9E9-8A06-41EA-B1CE-BB172A57730D}"/>
              </a:ext>
            </a:extLst>
          </p:cNvPr>
          <p:cNvSpPr txBox="1"/>
          <p:nvPr/>
        </p:nvSpPr>
        <p:spPr>
          <a:xfrm>
            <a:off x="609600" y="6375400"/>
            <a:ext cx="10033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US" altLang="zh-CN" sz="1200">
                <a:solidFill>
                  <a:srgbClr val="D8E5F2"/>
                </a:solidFill>
                <a:latin typeface="KaiTi"/>
                <a:ea typeface="KaiTi"/>
              </a:rPr>
              <a:t>Office </a:t>
            </a:r>
            <a:r>
              <a:rPr lang="zh-CN" altLang="en-US" sz="1200">
                <a:solidFill>
                  <a:srgbClr val="D8E5F2"/>
                </a:solidFill>
                <a:latin typeface="KaiTi"/>
                <a:ea typeface="KaiTi"/>
              </a:rPr>
              <a:t>原生样式图谱  </a:t>
            </a:r>
            <a:r>
              <a:rPr lang="en-US" altLang="zh-CN" sz="1200">
                <a:solidFill>
                  <a:srgbClr val="D8E5F2"/>
                </a:solidFill>
                <a:latin typeface="KaiTi"/>
                <a:ea typeface="KaiTi"/>
              </a:rPr>
              <a:t>·  </a:t>
            </a:r>
            <a:r>
              <a:rPr lang="zh-CN" altLang="en-US" sz="1200">
                <a:solidFill>
                  <a:srgbClr val="D8E5F2"/>
                </a:solidFill>
                <a:latin typeface="KaiTi"/>
                <a:ea typeface="KaiTi"/>
              </a:rPr>
              <a:t>预算执行示例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EC6D5E-2208-41FA-9B8B-A64D5EDDBAF0}"/>
              </a:ext>
            </a:extLst>
          </p:cNvPr>
          <p:cNvSpPr txBox="1"/>
          <p:nvPr/>
        </p:nvSpPr>
        <p:spPr>
          <a:xfrm>
            <a:off x="10642600" y="6375400"/>
            <a:ext cx="93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/>
            <a:r>
              <a:rPr lang="en-US" altLang="zh-CN" sz="1200">
                <a:solidFill>
                  <a:srgbClr val="D8E5F2"/>
                </a:solidFill>
                <a:latin typeface="KaiTi"/>
                <a:ea typeface="KaiTi"/>
              </a:rPr>
              <a:t>10 / 10</a:t>
            </a:r>
            <a:endParaRPr lang="zh-CN" altLang="en-US" sz="1200">
              <a:solidFill>
                <a:srgbClr val="D8E5F2"/>
              </a:solidFill>
              <a:latin typeface="KaiTi"/>
              <a:ea typeface="KaiT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90810D-D932-4249-A81A-5576DAE161E3}"/>
              </a:ext>
            </a:extLst>
          </p:cNvPr>
          <p:cNvSpPr txBox="1"/>
          <p:nvPr/>
        </p:nvSpPr>
        <p:spPr>
          <a:xfrm>
            <a:off x="609600" y="1905000"/>
            <a:ext cx="6604000" cy="1447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3000">
                <a:solidFill>
                  <a:srgbClr val="FFFFFF"/>
                </a:solidFill>
                <a:latin typeface="SimHei"/>
                <a:ea typeface="SimHei"/>
              </a:rPr>
              <a:t>预算 </a:t>
            </a:r>
            <a:r>
              <a:rPr lang="en-US" altLang="zh-CN" sz="3000">
                <a:solidFill>
                  <a:srgbClr val="FFFFFF"/>
                </a:solidFill>
                <a:latin typeface="SimHei"/>
                <a:ea typeface="SimHei"/>
              </a:rPr>
              <a:t>300 </a:t>
            </a:r>
            <a:r>
              <a:rPr lang="zh-CN" altLang="en-US" sz="3000">
                <a:solidFill>
                  <a:srgbClr val="FFFFFF"/>
                </a:solidFill>
                <a:latin typeface="SimHei"/>
                <a:ea typeface="SimHei"/>
              </a:rPr>
              <a:t>万元
实际 </a:t>
            </a:r>
            <a:r>
              <a:rPr lang="en-US" altLang="zh-CN" sz="3000">
                <a:solidFill>
                  <a:srgbClr val="FFFFFF"/>
                </a:solidFill>
                <a:latin typeface="SimHei"/>
                <a:ea typeface="SimHei"/>
              </a:rPr>
              <a:t>290 </a:t>
            </a:r>
            <a:r>
              <a:rPr lang="zh-CN" altLang="en-US" sz="3000">
                <a:solidFill>
                  <a:srgbClr val="FFFFFF"/>
                </a:solidFill>
                <a:latin typeface="SimHei"/>
                <a:ea typeface="SimHei"/>
              </a:rPr>
              <a:t>万元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5BB8A0-2702-4330-90A8-FA976032B71D}"/>
              </a:ext>
            </a:extLst>
          </p:cNvPr>
          <p:cNvSpPr txBox="1"/>
          <p:nvPr/>
        </p:nvSpPr>
        <p:spPr>
          <a:xfrm>
            <a:off x="609600" y="3721100"/>
            <a:ext cx="6604000" cy="660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D8E5F2"/>
                </a:solidFill>
                <a:latin typeface="KaiTi"/>
                <a:ea typeface="KaiTi"/>
              </a:rPr>
              <a:t>结余 </a:t>
            </a:r>
            <a:r>
              <a:rPr lang="en-US" altLang="zh-CN">
                <a:solidFill>
                  <a:srgbClr val="D8E5F2"/>
                </a:solidFill>
                <a:latin typeface="KaiTi"/>
                <a:ea typeface="KaiTi"/>
              </a:rPr>
              <a:t>10 </a:t>
            </a:r>
            <a:r>
              <a:rPr lang="zh-CN" altLang="en-US">
                <a:solidFill>
                  <a:srgbClr val="D8E5F2"/>
                </a:solidFill>
                <a:latin typeface="KaiTi"/>
                <a:ea typeface="KaiTi"/>
              </a:rPr>
              <a:t>万元  </a:t>
            </a:r>
            <a:r>
              <a:rPr lang="en-US" altLang="zh-CN">
                <a:solidFill>
                  <a:srgbClr val="D8E5F2"/>
                </a:solidFill>
                <a:latin typeface="KaiTi"/>
                <a:ea typeface="KaiTi"/>
              </a:rPr>
              <a:t>·  </a:t>
            </a:r>
            <a:r>
              <a:rPr lang="zh-CN" altLang="en-US">
                <a:solidFill>
                  <a:srgbClr val="D8E5F2"/>
                </a:solidFill>
                <a:latin typeface="KaiTi"/>
                <a:ea typeface="KaiTi"/>
              </a:rPr>
              <a:t>执行率 </a:t>
            </a:r>
            <a:r>
              <a:rPr lang="en-US" altLang="zh-CN">
                <a:solidFill>
                  <a:srgbClr val="D8E5F2"/>
                </a:solidFill>
                <a:latin typeface="KaiTi"/>
                <a:ea typeface="KaiTi"/>
              </a:rPr>
              <a:t>96.7%</a:t>
            </a:r>
            <a:endParaRPr lang="zh-CN" altLang="en-US">
              <a:solidFill>
                <a:srgbClr val="D8E5F2"/>
              </a:solidFill>
              <a:latin typeface="KaiTi"/>
              <a:ea typeface="KaiT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EF1C82-1DFE-4E02-ACA0-C8FA328E987D}"/>
              </a:ext>
            </a:extLst>
          </p:cNvPr>
          <p:cNvSpPr/>
          <p:nvPr/>
        </p:nvSpPr>
        <p:spPr>
          <a:xfrm>
            <a:off x="8128000" y="1943100"/>
            <a:ext cx="3454400" cy="3124200"/>
          </a:xfrm>
          <a:prstGeom prst="rect">
            <a:avLst/>
          </a:prstGeom>
          <a:solidFill>
            <a:srgbClr val="244C78">
              <a:alpha val="10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0" rIns="0" bIns="0" rtlCol="0" anchor="t" anchorCtr="0">
            <a:noAutofit/>
          </a:bodyPr>
          <a:lstStyle/>
          <a:p>
            <a:endParaRPr lang="zh-CN" altLang="en-US">
              <a:solidFill>
                <a:srgbClr val="000000"/>
              </a:solidFill>
              <a:latin typeface="KaiTi"/>
              <a:ea typeface="KaiT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10BB08-D3BA-40B6-B1BD-73D50D5BD6B1}"/>
              </a:ext>
            </a:extLst>
          </p:cNvPr>
          <p:cNvSpPr txBox="1"/>
          <p:nvPr/>
        </p:nvSpPr>
        <p:spPr>
          <a:xfrm>
            <a:off x="8432800" y="2235200"/>
            <a:ext cx="2844800" cy="571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SimHei"/>
                <a:ea typeface="SimHei"/>
              </a:rPr>
              <a:t>可编辑交付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5DC684-2AEF-4E84-BE59-C91D074D3958}"/>
              </a:ext>
            </a:extLst>
          </p:cNvPr>
          <p:cNvSpPr txBox="1"/>
          <p:nvPr/>
        </p:nvSpPr>
        <p:spPr>
          <a:xfrm>
            <a:off x="8432800" y="3048000"/>
            <a:ext cx="28448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文字与基础图形
原生表格与连接线
嵌入原始 </a:t>
            </a:r>
            <a:r>
              <a:rPr lang="en-US" altLang="zh-CN" sz="1600">
                <a:solidFill>
                  <a:srgbClr val="D8E5F2"/>
                </a:solidFill>
                <a:latin typeface="KaiTi"/>
                <a:ea typeface="KaiTi"/>
              </a:rPr>
              <a:t>PNG
Office </a:t>
            </a:r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原生导出与截图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F91B7B-D25A-413F-9C42-4934E43AB3D1}"/>
              </a:ext>
            </a:extLst>
          </p:cNvPr>
          <p:cNvSpPr txBox="1"/>
          <p:nvPr/>
        </p:nvSpPr>
        <p:spPr>
          <a:xfrm>
            <a:off x="609600" y="5346700"/>
            <a:ext cx="723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研发 </a:t>
            </a:r>
            <a:r>
              <a:rPr lang="en-US" altLang="zh-CN" sz="1600">
                <a:solidFill>
                  <a:srgbClr val="D8E5F2"/>
                </a:solidFill>
                <a:latin typeface="KaiTi"/>
                <a:ea typeface="KaiTi"/>
              </a:rPr>
              <a:t>/ </a:t>
            </a:r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运营 </a:t>
            </a:r>
            <a:r>
              <a:rPr lang="en-US" altLang="zh-CN" sz="1600">
                <a:solidFill>
                  <a:srgbClr val="D8E5F2"/>
                </a:solidFill>
                <a:latin typeface="KaiTi"/>
                <a:ea typeface="KaiTi"/>
              </a:rPr>
              <a:t>/ </a:t>
            </a:r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营销 </a:t>
            </a:r>
            <a:r>
              <a:rPr lang="en-US" altLang="zh-CN" sz="1600">
                <a:solidFill>
                  <a:srgbClr val="D8E5F2"/>
                </a:solidFill>
                <a:latin typeface="KaiTi"/>
                <a:ea typeface="KaiTi"/>
              </a:rPr>
              <a:t>/ </a:t>
            </a:r>
            <a:r>
              <a:rPr lang="zh-CN" altLang="en-US" sz="1600">
                <a:solidFill>
                  <a:srgbClr val="D8E5F2"/>
                </a:solidFill>
                <a:latin typeface="KaiTi"/>
                <a:ea typeface="KaiTi"/>
              </a:rPr>
              <a:t>支持</a:t>
            </a:r>
          </a:p>
        </p:txBody>
      </p:sp>
    </p:spTree>
    <p:extLst>
      <p:ext uri="{BB962C8B-B14F-4D97-AF65-F5344CB8AC3E}">
        <p14:creationId xmlns:p14="http://schemas.microsoft.com/office/powerpoint/2010/main" val="124997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A8E8D0-37C0-452F-92F2-EA48578B5B33}">
  <we:reference id="6f3c9a2e-8b1d-4e5a-9c7f-2d4a6b8e1c30" version="1.0.0.0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1070</Words>
  <Application>Microsoft Office PowerPoint</Application>
  <PresentationFormat>宽屏</PresentationFormat>
  <Paragraphs>143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SimHei</vt:lpstr>
      <vt:lpstr>KaiTi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小丫 黄</dc:creator>
  <cp:lastModifiedBy>小丫 黄</cp:lastModifiedBy>
  <cp:revision>15</cp:revision>
  <dcterms:created xsi:type="dcterms:W3CDTF">2026-10-13T11:45:51Z</dcterms:created>
  <dcterms:modified xsi:type="dcterms:W3CDTF">2026-10-14T00:52:27Z</dcterms:modified>
</cp:coreProperties>
</file>